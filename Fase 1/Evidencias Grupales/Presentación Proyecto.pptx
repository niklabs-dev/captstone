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custom"/>
  <p:notesSz cx="12192000" cy="6858000"/>
  <p:embeddedFontLst>
    <p:embeddedFont>
      <p:font typeface="Liter" charset="-122" pitchFamily="34"/>
      <p:regular r:id="rId17"/>
    </p:embeddedFont>
    <p:embeddedFont>
      <p:font typeface="Archivo Black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1_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_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812800" y="736600"/>
            <a:ext cx="584200" cy="63500"/>
          </a:xfrm>
          <a:prstGeom prst="rect">
            <a:avLst/>
          </a:prstGeom>
          <a:solidFill>
            <a:srgbClr val="E8651C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812800" y="939800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8651C"/>
                </a:solidFill>
                <a:latin typeface="Liter"/>
                <a:ea typeface="Liter"/>
              </a:rPr>
              <a:t>PORTAFOLIO DE TÍTULO · INGENIERÍA EN INFORMÁTICA · DUOC UC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1498600"/>
            <a:ext cx="5588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2000"/>
              </a:lnSpc>
            </a:pPr>
            <a:r>
              <a:rPr lang="en-US" sz="3800" noProof="1">
                <a:solidFill>
                  <a:srgbClr val="1E3B33"/>
                </a:solidFill>
                <a:latin typeface="Archivo Black"/>
                <a:ea typeface="Archivo Black"/>
              </a:rPr>
              <a:t>Sistema de</a:t>
            </a:r>
            <a:endParaRPr lang="en-US" sz="1600" noProof="1"/>
          </a:p>
          <a:p>
            <a:pPr algn="l">
              <a:lnSpc>
                <a:spcPct val="112000"/>
              </a:lnSpc>
            </a:pPr>
            <a:r>
              <a:rPr lang="en-US" sz="3800" noProof="1">
                <a:solidFill>
                  <a:srgbClr val="1E3B33"/>
                </a:solidFill>
                <a:latin typeface="Archivo Black"/>
                <a:ea typeface="Archivo Black"/>
              </a:rPr>
              <a:t>Gestión Interna</a:t>
            </a:r>
            <a:endParaRPr lang="en-US" sz="1600" noProof="1"/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lang="en-US" sz="5200" noProof="1">
                <a:solidFill>
                  <a:srgbClr val="E8651C"/>
                </a:solidFill>
                <a:latin typeface="Archivo Black"/>
                <a:ea typeface="Archivo Black"/>
              </a:rPr>
              <a:t>MoiFood</a:t>
            </a:r>
            <a:endParaRPr lang="en-US" sz="1600" noProof="1"/>
          </a:p>
        </p:txBody>
      </p:sp>
      <p:sp>
        <p:nvSpPr>
          <p:cNvPr id="5" name="subtitle"/>
          <p:cNvSpPr txBox="1"/>
          <p:nvPr/>
        </p:nvSpPr>
        <p:spPr>
          <a:xfrm>
            <a:off x="812800" y="3911600"/>
            <a:ext cx="5207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50" noProof="1">
                <a:solidFill>
                  <a:srgbClr val="7A8479"/>
                </a:solidFill>
                <a:latin typeface="Liter"/>
                <a:ea typeface="Liter"/>
              </a:rPr>
              <a:t>Gestión centralizada para los 3 locales del franquiciado Subway: documentación laboral, propinas, ventas e inventario.</a:t>
            </a:r>
            <a:endParaRPr lang="en-US" sz="1450" noProof="1"/>
          </a:p>
        </p:txBody>
      </p:sp>
      <p:sp>
        <p:nvSpPr>
          <p:cNvPr id="6" name="claim"/>
          <p:cNvSpPr txBox="1"/>
          <p:nvPr/>
        </p:nvSpPr>
        <p:spPr>
          <a:xfrm>
            <a:off x="812800" y="49022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50" noProof="1" b="1">
                <a:solidFill>
                  <a:srgbClr val="1E3B33"/>
                </a:solidFill>
                <a:latin typeface="Liter"/>
                <a:ea typeface="Liter"/>
              </a:rPr>
              <a:t>Presentación ejecutiva de factibilidad:</a:t>
            </a:r>
            <a:endParaRPr lang="en-US" sz="1550" noProof="1"/>
          </a:p>
          <a:p>
            <a:pPr>
              <a:lnSpc>
                <a:spcPct val="140000"/>
              </a:lnSpc>
            </a:pPr>
            <a:r>
              <a:rPr lang="en-US" sz="1550" noProof="1" b="1">
                <a:solidFill>
                  <a:srgbClr val="E8651C"/>
                </a:solidFill>
                <a:latin typeface="Liter"/>
                <a:ea typeface="Liter"/>
              </a:rPr>
              <a:t>tiempo, alcance y costo.</a:t>
            </a:r>
            <a:endParaRPr lang="en-US" sz="1550" noProof="1"/>
          </a:p>
        </p:txBody>
      </p:sp>
      <p:sp>
        <p:nvSpPr>
          <p:cNvPr id="7" name="footer-line"/>
          <p:cNvSpPr/>
          <p:nvPr/>
        </p:nvSpPr>
        <p:spPr>
          <a:xfrm>
            <a:off x="812800" y="59182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8" name="footer"/>
          <p:cNvSpPr txBox="1"/>
          <p:nvPr/>
        </p:nvSpPr>
        <p:spPr>
          <a:xfrm>
            <a:off x="812800" y="60706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7A8479"/>
                </a:solidFill>
                <a:latin typeface="Liter"/>
                <a:ea typeface="Liter"/>
              </a:rPr>
              <a:t>Lucas Flores · Nicolás Jiménez · Luis Hernández   |   Líder técnico: Carlos Quintanilla   |   Melipilla, 03 · 09 · 2026</a:t>
            </a:r>
            <a:endParaRPr lang="en-US" sz="1150" noProof="1"/>
          </a:p>
        </p:txBody>
      </p:sp>
      <p:pic>
        <p:nvPicPr>
          <p:cNvPr id="9" name="dash-img"/>
          <p:cNvPicPr/>
          <p:nvPr/>
        </p:nvPicPr>
        <p:blipFill>
          <a:blip r:embed="rId2"/>
          <a:srcRect t="3" b="3"/>
          <a:stretch>
            <a:fillRect/>
          </a:stretch>
        </p:blipFill>
        <p:spPr>
          <a:xfrm>
            <a:off x="6451600" y="1676400"/>
            <a:ext cx="4927600" cy="2425700"/>
          </a:xfrm>
          <a:prstGeom prst="rect">
            <a:avLst/>
          </a:prstGeom>
          <a:ln>
            <a:noFill/>
          </a:ln>
          <a:effectLst>
            <a:outerShdw blurRad="177800" dist="76200" dir="5400000" sx="100000" sy="100000" kx="0" ky="0" algn="bl" rotWithShape="0">
              <a:srgbClr val="1E3B33">
                <a:alpha val="14902"/>
              </a:srgbClr>
            </a:outerShdw>
          </a:effectLst>
        </p:spPr>
      </p:pic>
      <p:sp>
        <p:nvSpPr>
          <p:cNvPr id="10" name="dash-img-border"/>
          <p:cNvSpPr/>
          <p:nvPr/>
        </p:nvSpPr>
        <p:spPr>
          <a:xfrm>
            <a:off x="6451600" y="1676400"/>
            <a:ext cx="4927600" cy="2425700"/>
          </a:xfrm>
          <a:prstGeom prst="rect">
            <a:avLst/>
          </a:prstGeom>
          <a:noFill/>
          <a:ln w="12700">
            <a:solidFill>
              <a:srgbClr val="D9D2C0"/>
            </a:solidFill>
          </a:ln>
        </p:spPr>
      </p:sp>
      <p:sp>
        <p:nvSpPr>
          <p:cNvPr id="11" name="dash-caption"/>
          <p:cNvSpPr txBox="1"/>
          <p:nvPr/>
        </p:nvSpPr>
        <p:spPr>
          <a:xfrm>
            <a:off x="6451600" y="4241800"/>
            <a:ext cx="492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100" noProof="1" i="1">
                <a:solidFill>
                  <a:srgbClr val="7A8479"/>
                </a:solidFill>
                <a:latin typeface="Liter"/>
                <a:ea typeface="Liter"/>
              </a:rPr>
              <a:t>Mockup del dashboard consolidado — datos de ejemplo.</a:t>
            </a:r>
            <a:endParaRPr lang="en-US" sz="1100" noProof="1"/>
          </a:p>
        </p:txBody>
      </p:sp>
      <p:pic>
        <p:nvPicPr>
          <p:cNvPr id="12" name="wLRftD"/>
          <p:cNvPicPr/>
          <p:nvPr/>
        </p:nvPicPr>
        <p:blipFill>
          <a:blip r:embed="rId3"/>
          <a:stretch>
            <a:fillRect/>
          </a:stretch>
        </p:blipFill>
        <p:spPr>
          <a:xfrm>
            <a:off x="10135870" y="4584700"/>
            <a:ext cx="1243330" cy="1280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838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8651C"/>
                </a:solidFill>
                <a:latin typeface="Liter"/>
                <a:ea typeface="Liter"/>
              </a:rPr>
              <a:t>LA TESIS EN UNA FRASE</a:t>
            </a:r>
            <a:endParaRPr lang="en-US" sz="1200" noProof="1"/>
          </a:p>
        </p:txBody>
      </p:sp>
      <p:sp>
        <p:nvSpPr>
          <p:cNvPr id="3" name="statement"/>
          <p:cNvSpPr txBox="1"/>
          <p:nvPr/>
        </p:nvSpPr>
        <p:spPr>
          <a:xfrm>
            <a:off x="812800" y="1320800"/>
            <a:ext cx="105664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3700" noProof="1">
                <a:solidFill>
                  <a:srgbClr val="1E3B33"/>
                </a:solidFill>
                <a:latin typeface="Archivo Black"/>
                <a:ea typeface="Archivo Black"/>
              </a:rPr>
              <a:t>El proyecto es </a:t>
            </a:r>
            <a:r>
              <a:rPr lang="en-US" sz="3700" noProof="1">
                <a:solidFill>
                  <a:srgbClr val="E8651C"/>
                </a:solidFill>
                <a:latin typeface="Archivo Black"/>
                <a:ea typeface="Archivo Black"/>
              </a:rPr>
              <a:t>factible</a:t>
            </a:r>
            <a:endParaRPr lang="en-US" sz="3700" noProof="1"/>
          </a:p>
          <a:p>
            <a:pPr>
              <a:lnSpc>
                <a:spcPct val="115000"/>
              </a:lnSpc>
            </a:pPr>
            <a:r>
              <a:rPr lang="en-US" sz="3700" noProof="1">
                <a:solidFill>
                  <a:srgbClr val="1E3B33"/>
                </a:solidFill>
                <a:latin typeface="Archivo Black"/>
                <a:ea typeface="Archivo Black"/>
              </a:rPr>
              <a:t>en tiempo, alcance y costo.</a:t>
            </a:r>
            <a:endParaRPr lang="en-US" sz="3700" noProof="1"/>
          </a:p>
        </p:txBody>
      </p:sp>
      <p:sp>
        <p:nvSpPr>
          <p:cNvPr id="4" name="sub"/>
          <p:cNvSpPr txBox="1"/>
          <p:nvPr/>
        </p:nvSpPr>
        <p:spPr>
          <a:xfrm>
            <a:off x="812800" y="2870200"/>
            <a:ext cx="914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7A8479"/>
                </a:solidFill>
                <a:latin typeface="Liter"/>
                <a:ea typeface="Liter"/>
              </a:rPr>
              <a:t>A continuación: qué mejorará el negocio y qué riesgos evitará, con qué tecnología lo construiremos y qué nos comprometemos a cumplir semana a semana.</a:t>
            </a:r>
            <a:endParaRPr lang="en-US" sz="1400" noProof="1"/>
          </a:p>
        </p:txBody>
      </p:sp>
      <p:sp>
        <p:nvSpPr>
          <p:cNvPr id="5" name="vline1"/>
          <p:cNvSpPr/>
          <p:nvPr/>
        </p:nvSpPr>
        <p:spPr>
          <a:xfrm>
            <a:off x="4267200" y="4191000"/>
            <a:ext cx="12700" cy="19050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vline2"/>
          <p:cNvSpPr/>
          <p:nvPr/>
        </p:nvSpPr>
        <p:spPr>
          <a:xfrm>
            <a:off x="8026400" y="4191000"/>
            <a:ext cx="12700" cy="19050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7" name="hline"/>
          <p:cNvSpPr/>
          <p:nvPr/>
        </p:nvSpPr>
        <p:spPr>
          <a:xfrm>
            <a:off x="812800" y="39624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8" name="num1"/>
          <p:cNvSpPr txBox="1"/>
          <p:nvPr/>
        </p:nvSpPr>
        <p:spPr>
          <a:xfrm>
            <a:off x="812800" y="4191000"/>
            <a:ext cx="304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E8651C"/>
                </a:solidFill>
                <a:latin typeface="Archivo Black"/>
                <a:ea typeface="Archivo Black"/>
              </a:rPr>
              <a:t>01</a:t>
            </a:r>
            <a:endParaRPr lang="en-US" sz="2600" noProof="1"/>
          </a:p>
        </p:txBody>
      </p:sp>
      <p:sp>
        <p:nvSpPr>
          <p:cNvPr id="9" name="t1"/>
          <p:cNvSpPr txBox="1"/>
          <p:nvPr/>
        </p:nvSpPr>
        <p:spPr>
          <a:xfrm>
            <a:off x="812800" y="46990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E3B33"/>
                </a:solidFill>
                <a:latin typeface="Liter"/>
                <a:ea typeface="Liter"/>
              </a:rPr>
              <a:t>Negocio</a:t>
            </a:r>
            <a:endParaRPr lang="en-US" sz="1700" noProof="1"/>
          </a:p>
        </p:txBody>
      </p:sp>
      <p:sp>
        <p:nvSpPr>
          <p:cNvPr id="10" name="d1"/>
          <p:cNvSpPr txBox="1"/>
          <p:nvPr/>
        </p:nvSpPr>
        <p:spPr>
          <a:xfrm>
            <a:off x="812800" y="5054600"/>
            <a:ext cx="30480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>
                <a:solidFill>
                  <a:srgbClr val="7A8479"/>
                </a:solidFill>
                <a:latin typeface="Liter"/>
                <a:ea typeface="Liter"/>
              </a:rPr>
              <a:t>Qué mejoramos en la operación de los 3 locales y qué riesgos legales y económicos evitamos.</a:t>
            </a:r>
            <a:endParaRPr lang="en-US" sz="1250" noProof="1"/>
          </a:p>
        </p:txBody>
      </p:sp>
      <p:sp>
        <p:nvSpPr>
          <p:cNvPr id="11" name="num2"/>
          <p:cNvSpPr txBox="1"/>
          <p:nvPr/>
        </p:nvSpPr>
        <p:spPr>
          <a:xfrm>
            <a:off x="4572000" y="4191000"/>
            <a:ext cx="304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E8651C"/>
                </a:solidFill>
                <a:latin typeface="Archivo Black"/>
                <a:ea typeface="Archivo Black"/>
              </a:rPr>
              <a:t>02</a:t>
            </a:r>
            <a:endParaRPr lang="en-US" sz="2600" noProof="1"/>
          </a:p>
        </p:txBody>
      </p:sp>
      <p:sp>
        <p:nvSpPr>
          <p:cNvPr id="12" name="t2"/>
          <p:cNvSpPr txBox="1"/>
          <p:nvPr/>
        </p:nvSpPr>
        <p:spPr>
          <a:xfrm>
            <a:off x="4572000" y="46990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E3B33"/>
                </a:solidFill>
                <a:latin typeface="Liter"/>
                <a:ea typeface="Liter"/>
              </a:rPr>
              <a:t>Técnico</a:t>
            </a:r>
            <a:endParaRPr lang="en-US" sz="1700" noProof="1"/>
          </a:p>
        </p:txBody>
      </p:sp>
      <p:sp>
        <p:nvSpPr>
          <p:cNvPr id="13" name="d2"/>
          <p:cNvSpPr txBox="1"/>
          <p:nvPr/>
        </p:nvSpPr>
        <p:spPr>
          <a:xfrm>
            <a:off x="4572000" y="5054600"/>
            <a:ext cx="30480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>
                <a:solidFill>
                  <a:srgbClr val="7A8479"/>
                </a:solidFill>
                <a:latin typeface="Liter"/>
                <a:ea typeface="Liter"/>
              </a:rPr>
              <a:t>Stack TypeScript — Next.js, NestJS y PostgreSQL — y por qué estas tecnologías y no otras.</a:t>
            </a:r>
            <a:endParaRPr lang="en-US" sz="1250" noProof="1"/>
          </a:p>
        </p:txBody>
      </p:sp>
      <p:sp>
        <p:nvSpPr>
          <p:cNvPr id="14" name="num3"/>
          <p:cNvSpPr txBox="1"/>
          <p:nvPr/>
        </p:nvSpPr>
        <p:spPr>
          <a:xfrm>
            <a:off x="8331200" y="4191000"/>
            <a:ext cx="3048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E8651C"/>
                </a:solidFill>
                <a:latin typeface="Archivo Black"/>
                <a:ea typeface="Archivo Black"/>
              </a:rPr>
              <a:t>03</a:t>
            </a:r>
            <a:endParaRPr lang="en-US" sz="2600" noProof="1"/>
          </a:p>
        </p:txBody>
      </p:sp>
      <p:sp>
        <p:nvSpPr>
          <p:cNvPr id="15" name="t3"/>
          <p:cNvSpPr txBox="1"/>
          <p:nvPr/>
        </p:nvSpPr>
        <p:spPr>
          <a:xfrm>
            <a:off x="8331200" y="4699000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E3B33"/>
                </a:solidFill>
                <a:latin typeface="Liter"/>
                <a:ea typeface="Liter"/>
              </a:rPr>
              <a:t>Tiempo</a:t>
            </a:r>
            <a:endParaRPr lang="en-US" sz="1700" noProof="1"/>
          </a:p>
        </p:txBody>
      </p:sp>
      <p:sp>
        <p:nvSpPr>
          <p:cNvPr id="16" name="d3"/>
          <p:cNvSpPr txBox="1"/>
          <p:nvPr/>
        </p:nvSpPr>
        <p:spPr>
          <a:xfrm>
            <a:off x="8331200" y="5054600"/>
            <a:ext cx="30480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>
                <a:solidFill>
                  <a:srgbClr val="7A8479"/>
                </a:solidFill>
                <a:latin typeface="Liter"/>
                <a:ea typeface="Liter"/>
              </a:rPr>
              <a:t>5 sprints de 2 semanas, hitos por semana y compromisos medibles de cumplimiento.</a:t>
            </a:r>
            <a:endParaRPr lang="en-US" sz="1250" noProof="1"/>
          </a:p>
        </p:txBody>
      </p:sp>
      <p:sp>
        <p:nvSpPr>
          <p:cNvPr id="17" name="pagenum"/>
          <p:cNvSpPr txBox="1"/>
          <p:nvPr/>
        </p:nvSpPr>
        <p:spPr>
          <a:xfrm>
            <a:off x="11176000" y="64262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A8479"/>
                </a:solidFill>
                <a:latin typeface="Liter"/>
                <a:ea typeface="Liter"/>
              </a:rPr>
              <a:t>02</a:t>
            </a:r>
            <a:endParaRPr lang="en-US" sz="11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E3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1066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9B44C"/>
                </a:solidFill>
                <a:latin typeface="Liter"/>
                <a:ea typeface="Liter"/>
              </a:rPr>
              <a:t>SECCIÓN 01</a:t>
            </a:r>
            <a:endParaRPr lang="en-US" sz="1200" noProof="1"/>
          </a:p>
        </p:txBody>
      </p:sp>
      <p:sp>
        <p:nvSpPr>
          <p:cNvPr id="3" name="bignum"/>
          <p:cNvSpPr txBox="1"/>
          <p:nvPr/>
        </p:nvSpPr>
        <p:spPr>
          <a:xfrm>
            <a:off x="711200" y="1473200"/>
            <a:ext cx="5334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0" noProof="1">
                <a:solidFill>
                  <a:srgbClr val="E8651C"/>
                </a:solidFill>
                <a:latin typeface="Archivo Black"/>
                <a:ea typeface="Archivo Black"/>
              </a:rPr>
              <a:t>01</a:t>
            </a:r>
            <a:endParaRPr lang="en-US" sz="170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4343400"/>
            <a:ext cx="8890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600" noProof="1">
                <a:solidFill>
                  <a:srgbClr val="FFFDF8"/>
                </a:solidFill>
                <a:latin typeface="Archivo Black"/>
                <a:ea typeface="Archivo Black"/>
              </a:rPr>
              <a:t>Negocio</a:t>
            </a:r>
            <a:endParaRPr lang="en-US" sz="4600" noProof="1"/>
          </a:p>
        </p:txBody>
      </p:sp>
      <p:sp>
        <p:nvSpPr>
          <p:cNvPr id="5" name="sub"/>
          <p:cNvSpPr txBox="1"/>
          <p:nvPr/>
        </p:nvSpPr>
        <p:spPr>
          <a:xfrm>
            <a:off x="812800" y="5257800"/>
            <a:ext cx="812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50" noProof="1">
                <a:solidFill>
                  <a:srgbClr val="A8B3A6"/>
                </a:solidFill>
                <a:latin typeface="Liter"/>
                <a:ea typeface="Liter"/>
              </a:rPr>
              <a:t>Qué mejoramos en la operación diaria y qué riesgos dejamos de correr.</a:t>
            </a:r>
            <a:endParaRPr lang="en-US" sz="1550" noProof="1"/>
          </a:p>
        </p:txBody>
      </p:sp>
      <p:sp>
        <p:nvSpPr>
          <p:cNvPr id="6" name="goldline"/>
          <p:cNvSpPr/>
          <p:nvPr/>
        </p:nvSpPr>
        <p:spPr>
          <a:xfrm>
            <a:off x="812800" y="5867400"/>
            <a:ext cx="1524000" cy="38100"/>
          </a:xfrm>
          <a:prstGeom prst="rect">
            <a:avLst/>
          </a:prstGeom>
          <a:solidFill>
            <a:srgbClr val="E9B44C"/>
          </a:solidFill>
          <a:ln>
            <a:noFill/>
          </a:ln>
        </p:spPr>
      </p:sp>
      <p:sp>
        <p:nvSpPr>
          <p:cNvPr id="7" name="pagenum"/>
          <p:cNvSpPr txBox="1"/>
          <p:nvPr/>
        </p:nvSpPr>
        <p:spPr>
          <a:xfrm>
            <a:off x="11176000" y="64262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A8B3A6"/>
                </a:solidFill>
                <a:latin typeface="Liter"/>
                <a:ea typeface="Liter"/>
              </a:rPr>
              <a:t>03</a:t>
            </a:r>
            <a:endParaRPr lang="en-US" sz="11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8651C"/>
                </a:solidFill>
                <a:latin typeface="Liter"/>
                <a:ea typeface="Liter"/>
              </a:rPr>
              <a:t>01 · NEGOCIO — SITUACIÓN ACTUAL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1016000"/>
            <a:ext cx="7874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1E3B33"/>
                </a:solidFill>
                <a:latin typeface="Archivo Black"/>
                <a:ea typeface="Archivo Black"/>
              </a:rPr>
              <a:t>Hoy la gestión es manual, fragmentada e invisible para el dueño</a:t>
            </a:r>
            <a:endParaRPr lang="en-US" sz="2600" noProof="1"/>
          </a:p>
        </p:txBody>
      </p:sp>
      <p:sp>
        <p:nvSpPr>
          <p:cNvPr id="4" name="stat1"/>
          <p:cNvSpPr txBox="1"/>
          <p:nvPr/>
        </p:nvSpPr>
        <p:spPr>
          <a:xfrm>
            <a:off x="9347200" y="1066800"/>
            <a:ext cx="203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4800" noProof="1">
                <a:solidFill>
                  <a:srgbClr val="E8651C"/>
                </a:solidFill>
                <a:latin typeface="Archivo Black"/>
                <a:ea typeface="Archivo Black"/>
              </a:rPr>
              <a:t>3</a:t>
            </a:r>
            <a:endParaRPr lang="en-US" sz="4800" noProof="1"/>
          </a:p>
        </p:txBody>
      </p:sp>
      <p:sp>
        <p:nvSpPr>
          <p:cNvPr id="5" name="stat1label"/>
          <p:cNvSpPr txBox="1"/>
          <p:nvPr/>
        </p:nvSpPr>
        <p:spPr>
          <a:xfrm>
            <a:off x="8890000" y="1854200"/>
            <a:ext cx="2489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A8479"/>
                </a:solidFill>
                <a:latin typeface="Liter"/>
                <a:ea typeface="Liter"/>
              </a:rPr>
              <a:t>locales operando de forma aislada</a:t>
            </a:r>
            <a:endParaRPr lang="en-US" sz="1100" noProof="1"/>
          </a:p>
        </p:txBody>
      </p:sp>
      <p:sp>
        <p:nvSpPr>
          <p:cNvPr id="6" name="stat2"/>
          <p:cNvSpPr txBox="1"/>
          <p:nvPr/>
        </p:nvSpPr>
        <p:spPr>
          <a:xfrm>
            <a:off x="9347200" y="2413000"/>
            <a:ext cx="203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4800" noProof="1">
                <a:solidFill>
                  <a:srgbClr val="E8651C"/>
                </a:solidFill>
                <a:latin typeface="Archivo Black"/>
                <a:ea typeface="Archivo Black"/>
              </a:rPr>
              <a:t>0</a:t>
            </a:r>
            <a:endParaRPr lang="en-US" sz="4800" noProof="1"/>
          </a:p>
        </p:txBody>
      </p:sp>
      <p:sp>
        <p:nvSpPr>
          <p:cNvPr id="7" name="stat2label"/>
          <p:cNvSpPr txBox="1"/>
          <p:nvPr/>
        </p:nvSpPr>
        <p:spPr>
          <a:xfrm>
            <a:off x="8890000" y="3200400"/>
            <a:ext cx="2489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A8479"/>
                </a:solidFill>
                <a:latin typeface="Liter"/>
                <a:ea typeface="Liter"/>
              </a:rPr>
              <a:t>fuente de datos consolidada del negocio</a:t>
            </a:r>
            <a:endParaRPr lang="en-US" sz="1100" noProof="1"/>
          </a:p>
        </p:txBody>
      </p:sp>
      <p:sp>
        <p:nvSpPr>
          <p:cNvPr id="8" name="row1-line"/>
          <p:cNvSpPr/>
          <p:nvPr/>
        </p:nvSpPr>
        <p:spPr>
          <a:xfrm>
            <a:off x="812800" y="2362200"/>
            <a:ext cx="76200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9" name="row1-icon"/>
          <p:cNvSpPr/>
          <p:nvPr>
            <p:extLst>
              <p:ext uri="{F5677B7D-0D2A-4D9B-9A5C-6D8D7D0E5A5D}">
                <pptd:icon encoding="base64url">eyJpY29uTmFtZSI6ImZhczpmaWxlLXNpZ25hdHVyZSJ9</pptd:icon>
              </p:ext>
            </p:extLst>
          </p:nvPr>
        </p:nvSpPr>
        <p:spPr>
          <a:xfrm>
            <a:off x="812800" y="2565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64" y="64"/>
                </a:moveTo>
                <a:cubicBezTo>
                  <a:pt x="64" y="29"/>
                  <a:pt x="93" y="0"/>
                  <a:pt x="128" y="0"/>
                </a:cubicBezTo>
                <a:lnTo>
                  <a:pt x="278" y="0"/>
                </a:lnTo>
                <a:cubicBezTo>
                  <a:pt x="295" y="0"/>
                  <a:pt x="311" y="7"/>
                  <a:pt x="323" y="19"/>
                </a:cubicBezTo>
                <a:lnTo>
                  <a:pt x="429" y="125"/>
                </a:lnTo>
                <a:cubicBezTo>
                  <a:pt x="441" y="137"/>
                  <a:pt x="448" y="154"/>
                  <a:pt x="448" y="171"/>
                </a:cubicBezTo>
                <a:lnTo>
                  <a:pt x="448" y="268"/>
                </a:lnTo>
                <a:lnTo>
                  <a:pt x="316" y="400"/>
                </a:lnTo>
                <a:lnTo>
                  <a:pt x="274" y="400"/>
                </a:lnTo>
                <a:lnTo>
                  <a:pt x="258" y="347"/>
                </a:lnTo>
                <a:cubicBezTo>
                  <a:pt x="253" y="331"/>
                  <a:pt x="239" y="320"/>
                  <a:pt x="222" y="320"/>
                </a:cubicBezTo>
                <a:cubicBezTo>
                  <a:pt x="211" y="320"/>
                  <a:pt x="200" y="325"/>
                  <a:pt x="193" y="334"/>
                </a:cubicBezTo>
                <a:lnTo>
                  <a:pt x="133" y="409"/>
                </a:lnTo>
                <a:cubicBezTo>
                  <a:pt x="125" y="419"/>
                  <a:pt x="127" y="435"/>
                  <a:pt x="137" y="443"/>
                </a:cubicBezTo>
                <a:cubicBezTo>
                  <a:pt x="147" y="451"/>
                  <a:pt x="163" y="449"/>
                  <a:pt x="171" y="439"/>
                </a:cubicBezTo>
                <a:lnTo>
                  <a:pt x="218" y="380"/>
                </a:lnTo>
                <a:lnTo>
                  <a:pt x="233" y="431"/>
                </a:lnTo>
                <a:cubicBezTo>
                  <a:pt x="236" y="441"/>
                  <a:pt x="245" y="448"/>
                  <a:pt x="256" y="448"/>
                </a:cubicBezTo>
                <a:lnTo>
                  <a:pt x="288" y="448"/>
                </a:lnTo>
                <a:cubicBezTo>
                  <a:pt x="287" y="451"/>
                  <a:pt x="286" y="454"/>
                  <a:pt x="285" y="457"/>
                </a:cubicBezTo>
                <a:lnTo>
                  <a:pt x="274" y="512"/>
                </a:lnTo>
                <a:lnTo>
                  <a:pt x="128" y="512"/>
                </a:lnTo>
                <a:cubicBezTo>
                  <a:pt x="93" y="512"/>
                  <a:pt x="64" y="483"/>
                  <a:pt x="64" y="448"/>
                </a:cubicBezTo>
                <a:lnTo>
                  <a:pt x="64" y="64"/>
                </a:lnTo>
                <a:close/>
                <a:moveTo>
                  <a:pt x="272" y="59"/>
                </a:moveTo>
                <a:lnTo>
                  <a:pt x="272" y="152"/>
                </a:lnTo>
                <a:cubicBezTo>
                  <a:pt x="272" y="165"/>
                  <a:pt x="283" y="176"/>
                  <a:pt x="296" y="176"/>
                </a:cubicBezTo>
                <a:lnTo>
                  <a:pt x="390" y="176"/>
                </a:lnTo>
                <a:lnTo>
                  <a:pt x="272" y="59"/>
                </a:lnTo>
                <a:close/>
              </a:path>
              <a:path w="640" h="512">
                <a:moveTo>
                  <a:pt x="332" y="467"/>
                </a:moveTo>
                <a:cubicBezTo>
                  <a:pt x="335" y="455"/>
                  <a:pt x="341" y="443"/>
                  <a:pt x="350" y="434"/>
                </a:cubicBezTo>
                <a:lnTo>
                  <a:pt x="469" y="315"/>
                </a:lnTo>
                <a:lnTo>
                  <a:pt x="549" y="395"/>
                </a:lnTo>
                <a:lnTo>
                  <a:pt x="430" y="514"/>
                </a:lnTo>
                <a:cubicBezTo>
                  <a:pt x="421" y="523"/>
                  <a:pt x="410" y="529"/>
                  <a:pt x="397" y="532"/>
                </a:cubicBezTo>
                <a:lnTo>
                  <a:pt x="338" y="544"/>
                </a:lnTo>
                <a:cubicBezTo>
                  <a:pt x="337" y="544"/>
                  <a:pt x="336" y="544"/>
                  <a:pt x="335" y="544"/>
                </a:cubicBezTo>
                <a:cubicBezTo>
                  <a:pt x="327" y="544"/>
                  <a:pt x="320" y="537"/>
                  <a:pt x="320" y="529"/>
                </a:cubicBezTo>
                <a:cubicBezTo>
                  <a:pt x="320" y="528"/>
                  <a:pt x="320" y="527"/>
                  <a:pt x="320" y="526"/>
                </a:cubicBezTo>
                <a:lnTo>
                  <a:pt x="332" y="467"/>
                </a:lnTo>
                <a:close/>
              </a:path>
              <a:path w="640" h="512">
                <a:moveTo>
                  <a:pt x="600" y="344"/>
                </a:moveTo>
                <a:lnTo>
                  <a:pt x="571" y="373"/>
                </a:lnTo>
                <a:lnTo>
                  <a:pt x="491" y="293"/>
                </a:lnTo>
                <a:lnTo>
                  <a:pt x="520" y="264"/>
                </a:lnTo>
                <a:cubicBezTo>
                  <a:pt x="542" y="242"/>
                  <a:pt x="578" y="242"/>
                  <a:pt x="600" y="264"/>
                </a:cubicBezTo>
                <a:cubicBezTo>
                  <a:pt x="622" y="286"/>
                  <a:pt x="622" y="322"/>
                  <a:pt x="600" y="344"/>
                </a:cubicBezTo>
                <a:close/>
              </a:path>
            </a:pathLst>
          </a:custGeom>
          <a:solidFill>
            <a:srgbClr val="E8651C"/>
          </a:solidFill>
          <a:ln>
            <a:noFill/>
          </a:ln>
        </p:spPr>
      </p:sp>
      <p:sp>
        <p:nvSpPr>
          <p:cNvPr id="10" name="row1"/>
          <p:cNvSpPr txBox="1"/>
          <p:nvPr/>
        </p:nvSpPr>
        <p:spPr>
          <a:xfrm>
            <a:off x="1270000" y="2489200"/>
            <a:ext cx="7162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50" noProof="1" b="1">
                <a:solidFill>
                  <a:srgbClr val="26332C"/>
                </a:solidFill>
                <a:latin typeface="Liter"/>
                <a:ea typeface="Liter"/>
              </a:rPr>
              <a:t>Documentación laboral sin respaldo</a:t>
            </a:r>
            <a:endParaRPr lang="en-US" sz="135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A8479"/>
                </a:solidFill>
                <a:latin typeface="Liter"/>
                <a:ea typeface="Liter"/>
              </a:rPr>
              <a:t>Contratos y liquidaciones sin conservación controlada ni versiones.</a:t>
            </a:r>
            <a:endParaRPr lang="en-US" sz="1350" noProof="1"/>
          </a:p>
        </p:txBody>
      </p:sp>
      <p:sp>
        <p:nvSpPr>
          <p:cNvPr id="11" name="row2-line"/>
          <p:cNvSpPr/>
          <p:nvPr/>
        </p:nvSpPr>
        <p:spPr>
          <a:xfrm>
            <a:off x="812800" y="3251200"/>
            <a:ext cx="76200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2" name="row2-icon"/>
          <p:cNvSpPr/>
          <p:nvPr>
            <p:extLst>
              <p:ext uri="{F5677B7D-0D2A-4D9B-9A5C-6D8D7D0E5A5D}">
                <pptd:icon encoding="base64url">eyJpY29uTmFtZSI6ImZhczpoYW5kLWhvbGRpbmctZG9sbGFyIn0</pptd:icon>
              </p:ext>
            </p:extLst>
          </p:nvPr>
        </p:nvSpPr>
        <p:spPr>
          <a:xfrm>
            <a:off x="812800" y="3454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88" y="-16"/>
                </a:moveTo>
                <a:cubicBezTo>
                  <a:pt x="275" y="-16"/>
                  <a:pt x="264" y="-5"/>
                  <a:pt x="264" y="8"/>
                </a:cubicBezTo>
                <a:lnTo>
                  <a:pt x="264" y="20"/>
                </a:lnTo>
                <a:lnTo>
                  <a:pt x="262" y="20"/>
                </a:lnTo>
                <a:cubicBezTo>
                  <a:pt x="226" y="20"/>
                  <a:pt x="196" y="50"/>
                  <a:pt x="196" y="86"/>
                </a:cubicBezTo>
                <a:cubicBezTo>
                  <a:pt x="196" y="120"/>
                  <a:pt x="221" y="148"/>
                  <a:pt x="254" y="152"/>
                </a:cubicBezTo>
                <a:lnTo>
                  <a:pt x="315" y="160"/>
                </a:lnTo>
                <a:cubicBezTo>
                  <a:pt x="320" y="160"/>
                  <a:pt x="324" y="165"/>
                  <a:pt x="324" y="170"/>
                </a:cubicBezTo>
                <a:cubicBezTo>
                  <a:pt x="324" y="175"/>
                  <a:pt x="319" y="180"/>
                  <a:pt x="314" y="180"/>
                </a:cubicBezTo>
                <a:lnTo>
                  <a:pt x="240" y="180"/>
                </a:lnTo>
                <a:cubicBezTo>
                  <a:pt x="225" y="180"/>
                  <a:pt x="212" y="193"/>
                  <a:pt x="212" y="208"/>
                </a:cubicBezTo>
                <a:cubicBezTo>
                  <a:pt x="212" y="224"/>
                  <a:pt x="225" y="236"/>
                  <a:pt x="240" y="236"/>
                </a:cubicBezTo>
                <a:lnTo>
                  <a:pt x="264" y="236"/>
                </a:lnTo>
                <a:lnTo>
                  <a:pt x="264" y="248"/>
                </a:lnTo>
                <a:cubicBezTo>
                  <a:pt x="264" y="261"/>
                  <a:pt x="275" y="272"/>
                  <a:pt x="288" y="272"/>
                </a:cubicBezTo>
                <a:cubicBezTo>
                  <a:pt x="301" y="272"/>
                  <a:pt x="312" y="261"/>
                  <a:pt x="312" y="248"/>
                </a:cubicBezTo>
                <a:lnTo>
                  <a:pt x="312" y="236"/>
                </a:lnTo>
                <a:lnTo>
                  <a:pt x="314" y="236"/>
                </a:lnTo>
                <a:cubicBezTo>
                  <a:pt x="350" y="236"/>
                  <a:pt x="380" y="206"/>
                  <a:pt x="380" y="170"/>
                </a:cubicBezTo>
                <a:cubicBezTo>
                  <a:pt x="380" y="136"/>
                  <a:pt x="355" y="108"/>
                  <a:pt x="322" y="104"/>
                </a:cubicBezTo>
                <a:lnTo>
                  <a:pt x="261" y="97"/>
                </a:lnTo>
                <a:cubicBezTo>
                  <a:pt x="256" y="96"/>
                  <a:pt x="252" y="92"/>
                  <a:pt x="252" y="86"/>
                </a:cubicBezTo>
                <a:cubicBezTo>
                  <a:pt x="252" y="81"/>
                  <a:pt x="257" y="76"/>
                  <a:pt x="262" y="76"/>
                </a:cubicBezTo>
                <a:lnTo>
                  <a:pt x="328" y="76"/>
                </a:lnTo>
                <a:cubicBezTo>
                  <a:pt x="344" y="76"/>
                  <a:pt x="356" y="64"/>
                  <a:pt x="356" y="48"/>
                </a:cubicBezTo>
                <a:cubicBezTo>
                  <a:pt x="356" y="33"/>
                  <a:pt x="344" y="20"/>
                  <a:pt x="328" y="20"/>
                </a:cubicBezTo>
                <a:lnTo>
                  <a:pt x="312" y="20"/>
                </a:lnTo>
                <a:lnTo>
                  <a:pt x="312" y="8"/>
                </a:lnTo>
                <a:cubicBezTo>
                  <a:pt x="312" y="-5"/>
                  <a:pt x="301" y="-16"/>
                  <a:pt x="288" y="-16"/>
                </a:cubicBezTo>
                <a:close/>
                <a:moveTo>
                  <a:pt x="109" y="342"/>
                </a:moveTo>
                <a:lnTo>
                  <a:pt x="67" y="384"/>
                </a:lnTo>
                <a:lnTo>
                  <a:pt x="32" y="384"/>
                </a:lnTo>
                <a:cubicBezTo>
                  <a:pt x="14" y="384"/>
                  <a:pt x="0" y="398"/>
                  <a:pt x="0" y="416"/>
                </a:cubicBezTo>
                <a:lnTo>
                  <a:pt x="0" y="480"/>
                </a:lnTo>
                <a:cubicBezTo>
                  <a:pt x="0" y="498"/>
                  <a:pt x="14" y="512"/>
                  <a:pt x="32" y="512"/>
                </a:cubicBezTo>
                <a:lnTo>
                  <a:pt x="353" y="512"/>
                </a:lnTo>
                <a:cubicBezTo>
                  <a:pt x="382" y="512"/>
                  <a:pt x="410" y="503"/>
                  <a:pt x="433" y="486"/>
                </a:cubicBezTo>
                <a:lnTo>
                  <a:pt x="560" y="392"/>
                </a:lnTo>
                <a:cubicBezTo>
                  <a:pt x="578" y="379"/>
                  <a:pt x="581" y="354"/>
                  <a:pt x="568" y="336"/>
                </a:cubicBezTo>
                <a:cubicBezTo>
                  <a:pt x="555" y="319"/>
                  <a:pt x="530" y="315"/>
                  <a:pt x="512" y="328"/>
                </a:cubicBezTo>
                <a:lnTo>
                  <a:pt x="393" y="416"/>
                </a:lnTo>
                <a:lnTo>
                  <a:pt x="280" y="416"/>
                </a:lnTo>
                <a:cubicBezTo>
                  <a:pt x="267" y="416"/>
                  <a:pt x="256" y="405"/>
                  <a:pt x="256" y="392"/>
                </a:cubicBezTo>
                <a:cubicBezTo>
                  <a:pt x="256" y="379"/>
                  <a:pt x="267" y="368"/>
                  <a:pt x="280" y="368"/>
                </a:cubicBezTo>
                <a:lnTo>
                  <a:pt x="352" y="368"/>
                </a:lnTo>
                <a:cubicBezTo>
                  <a:pt x="370" y="368"/>
                  <a:pt x="384" y="354"/>
                  <a:pt x="384" y="336"/>
                </a:cubicBezTo>
                <a:cubicBezTo>
                  <a:pt x="384" y="318"/>
                  <a:pt x="370" y="304"/>
                  <a:pt x="352" y="304"/>
                </a:cubicBezTo>
                <a:lnTo>
                  <a:pt x="200" y="304"/>
                </a:lnTo>
                <a:cubicBezTo>
                  <a:pt x="166" y="304"/>
                  <a:pt x="133" y="318"/>
                  <a:pt x="109" y="342"/>
                </a:cubicBezTo>
                <a:close/>
              </a:path>
            </a:pathLst>
          </a:custGeom>
          <a:solidFill>
            <a:srgbClr val="E8651C"/>
          </a:solidFill>
          <a:ln>
            <a:noFill/>
          </a:ln>
        </p:spPr>
      </p:sp>
      <p:sp>
        <p:nvSpPr>
          <p:cNvPr id="13" name="row2"/>
          <p:cNvSpPr txBox="1"/>
          <p:nvPr/>
        </p:nvSpPr>
        <p:spPr>
          <a:xfrm>
            <a:off x="1270000" y="3378200"/>
            <a:ext cx="7162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50" noProof="1" b="1">
                <a:solidFill>
                  <a:srgbClr val="26332C"/>
                </a:solidFill>
                <a:latin typeface="Liter"/>
                <a:ea typeface="Liter"/>
              </a:rPr>
              <a:t>Propinas sin registro escrito</a:t>
            </a:r>
            <a:endParaRPr lang="en-US" sz="135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A8479"/>
                </a:solidFill>
                <a:latin typeface="Liter"/>
                <a:ea typeface="Liter"/>
              </a:rPr>
              <a:t>Reparto informal, sin trazabilidad ni validación del contador.</a:t>
            </a:r>
            <a:endParaRPr lang="en-US" sz="1350" noProof="1"/>
          </a:p>
        </p:txBody>
      </p:sp>
      <p:sp>
        <p:nvSpPr>
          <p:cNvPr id="14" name="row3-line"/>
          <p:cNvSpPr/>
          <p:nvPr/>
        </p:nvSpPr>
        <p:spPr>
          <a:xfrm>
            <a:off x="812800" y="4140200"/>
            <a:ext cx="76200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5" name="row3-icon"/>
          <p:cNvSpPr/>
          <p:nvPr>
            <p:extLst>
              <p:ext uri="{F5677B7D-0D2A-4D9B-9A5C-6D8D7D0E5A5D}">
                <pptd:icon encoding="base64url">eyJpY29uTmFtZSI6ImZhczpjYXNoLXJlZ2lzdGVyIn0</pptd:icon>
              </p:ext>
            </p:extLst>
          </p:nvPr>
        </p:nvSpPr>
        <p:spPr>
          <a:xfrm>
            <a:off x="812800" y="4343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96" y="0"/>
                </a:moveTo>
                <a:cubicBezTo>
                  <a:pt x="61" y="0"/>
                  <a:pt x="32" y="29"/>
                  <a:pt x="32" y="64"/>
                </a:cubicBezTo>
                <a:cubicBezTo>
                  <a:pt x="32" y="99"/>
                  <a:pt x="61" y="128"/>
                  <a:pt x="96" y="128"/>
                </a:cubicBezTo>
                <a:lnTo>
                  <a:pt x="144" y="128"/>
                </a:lnTo>
                <a:lnTo>
                  <a:pt x="144" y="160"/>
                </a:lnTo>
                <a:lnTo>
                  <a:pt x="87" y="160"/>
                </a:lnTo>
                <a:cubicBezTo>
                  <a:pt x="55" y="160"/>
                  <a:pt x="29" y="183"/>
                  <a:pt x="24" y="214"/>
                </a:cubicBezTo>
                <a:lnTo>
                  <a:pt x="1" y="364"/>
                </a:lnTo>
                <a:cubicBezTo>
                  <a:pt x="0" y="369"/>
                  <a:pt x="0" y="374"/>
                  <a:pt x="0" y="378"/>
                </a:cubicBezTo>
                <a:lnTo>
                  <a:pt x="0" y="448"/>
                </a:lnTo>
                <a:cubicBezTo>
                  <a:pt x="0" y="483"/>
                  <a:pt x="29" y="512"/>
                  <a:pt x="64" y="512"/>
                </a:cubicBezTo>
                <a:lnTo>
                  <a:pt x="448" y="512"/>
                </a:lnTo>
                <a:cubicBezTo>
                  <a:pt x="483" y="512"/>
                  <a:pt x="512" y="483"/>
                  <a:pt x="512" y="448"/>
                </a:cubicBezTo>
                <a:lnTo>
                  <a:pt x="512" y="378"/>
                </a:lnTo>
                <a:cubicBezTo>
                  <a:pt x="512" y="374"/>
                  <a:pt x="512" y="369"/>
                  <a:pt x="511" y="364"/>
                </a:cubicBezTo>
                <a:lnTo>
                  <a:pt x="488" y="214"/>
                </a:lnTo>
                <a:cubicBezTo>
                  <a:pt x="484" y="183"/>
                  <a:pt x="457" y="160"/>
                  <a:pt x="425" y="160"/>
                </a:cubicBezTo>
                <a:lnTo>
                  <a:pt x="208" y="160"/>
                </a:lnTo>
                <a:lnTo>
                  <a:pt x="208" y="128"/>
                </a:lnTo>
                <a:lnTo>
                  <a:pt x="256" y="128"/>
                </a:lnTo>
                <a:cubicBezTo>
                  <a:pt x="291" y="128"/>
                  <a:pt x="320" y="99"/>
                  <a:pt x="320" y="64"/>
                </a:cubicBezTo>
                <a:cubicBezTo>
                  <a:pt x="320" y="29"/>
                  <a:pt x="291" y="0"/>
                  <a:pt x="256" y="0"/>
                </a:cubicBezTo>
                <a:lnTo>
                  <a:pt x="96" y="0"/>
                </a:lnTo>
                <a:close/>
                <a:moveTo>
                  <a:pt x="96" y="48"/>
                </a:moveTo>
                <a:lnTo>
                  <a:pt x="256" y="48"/>
                </a:lnTo>
                <a:cubicBezTo>
                  <a:pt x="265" y="48"/>
                  <a:pt x="272" y="55"/>
                  <a:pt x="272" y="64"/>
                </a:cubicBezTo>
                <a:cubicBezTo>
                  <a:pt x="272" y="73"/>
                  <a:pt x="265" y="80"/>
                  <a:pt x="256" y="80"/>
                </a:cubicBezTo>
                <a:lnTo>
                  <a:pt x="96" y="80"/>
                </a:lnTo>
                <a:cubicBezTo>
                  <a:pt x="87" y="80"/>
                  <a:pt x="80" y="73"/>
                  <a:pt x="80" y="64"/>
                </a:cubicBezTo>
                <a:cubicBezTo>
                  <a:pt x="80" y="55"/>
                  <a:pt x="87" y="48"/>
                  <a:pt x="96" y="48"/>
                </a:cubicBezTo>
                <a:close/>
                <a:moveTo>
                  <a:pt x="64" y="424"/>
                </a:moveTo>
                <a:cubicBezTo>
                  <a:pt x="64" y="411"/>
                  <a:pt x="75" y="400"/>
                  <a:pt x="88" y="400"/>
                </a:cubicBezTo>
                <a:lnTo>
                  <a:pt x="424" y="400"/>
                </a:lnTo>
                <a:cubicBezTo>
                  <a:pt x="437" y="400"/>
                  <a:pt x="448" y="411"/>
                  <a:pt x="448" y="424"/>
                </a:cubicBezTo>
                <a:cubicBezTo>
                  <a:pt x="448" y="437"/>
                  <a:pt x="437" y="448"/>
                  <a:pt x="424" y="448"/>
                </a:cubicBezTo>
                <a:lnTo>
                  <a:pt x="88" y="448"/>
                </a:lnTo>
                <a:cubicBezTo>
                  <a:pt x="75" y="448"/>
                  <a:pt x="64" y="437"/>
                  <a:pt x="64" y="424"/>
                </a:cubicBezTo>
                <a:close/>
                <a:moveTo>
                  <a:pt x="112" y="264"/>
                </a:moveTo>
                <a:cubicBezTo>
                  <a:pt x="99" y="264"/>
                  <a:pt x="88" y="253"/>
                  <a:pt x="88" y="240"/>
                </a:cubicBezTo>
                <a:cubicBezTo>
                  <a:pt x="88" y="227"/>
                  <a:pt x="99" y="216"/>
                  <a:pt x="112" y="216"/>
                </a:cubicBezTo>
                <a:cubicBezTo>
                  <a:pt x="125" y="216"/>
                  <a:pt x="136" y="227"/>
                  <a:pt x="136" y="240"/>
                </a:cubicBezTo>
                <a:cubicBezTo>
                  <a:pt x="136" y="253"/>
                  <a:pt x="125" y="264"/>
                  <a:pt x="112" y="264"/>
                </a:cubicBezTo>
                <a:close/>
                <a:moveTo>
                  <a:pt x="232" y="240"/>
                </a:moveTo>
                <a:cubicBezTo>
                  <a:pt x="232" y="253"/>
                  <a:pt x="221" y="264"/>
                  <a:pt x="208" y="264"/>
                </a:cubicBezTo>
                <a:cubicBezTo>
                  <a:pt x="195" y="264"/>
                  <a:pt x="184" y="253"/>
                  <a:pt x="184" y="240"/>
                </a:cubicBezTo>
                <a:cubicBezTo>
                  <a:pt x="184" y="227"/>
                  <a:pt x="195" y="216"/>
                  <a:pt x="208" y="216"/>
                </a:cubicBezTo>
                <a:cubicBezTo>
                  <a:pt x="221" y="216"/>
                  <a:pt x="232" y="227"/>
                  <a:pt x="232" y="240"/>
                </a:cubicBezTo>
                <a:close/>
                <a:moveTo>
                  <a:pt x="160" y="344"/>
                </a:moveTo>
                <a:cubicBezTo>
                  <a:pt x="147" y="344"/>
                  <a:pt x="136" y="333"/>
                  <a:pt x="136" y="320"/>
                </a:cubicBezTo>
                <a:cubicBezTo>
                  <a:pt x="136" y="307"/>
                  <a:pt x="147" y="296"/>
                  <a:pt x="160" y="296"/>
                </a:cubicBezTo>
                <a:cubicBezTo>
                  <a:pt x="173" y="296"/>
                  <a:pt x="184" y="307"/>
                  <a:pt x="184" y="320"/>
                </a:cubicBezTo>
                <a:cubicBezTo>
                  <a:pt x="184" y="333"/>
                  <a:pt x="173" y="344"/>
                  <a:pt x="160" y="344"/>
                </a:cubicBezTo>
                <a:close/>
                <a:moveTo>
                  <a:pt x="328" y="240"/>
                </a:moveTo>
                <a:cubicBezTo>
                  <a:pt x="328" y="253"/>
                  <a:pt x="317" y="264"/>
                  <a:pt x="304" y="264"/>
                </a:cubicBezTo>
                <a:cubicBezTo>
                  <a:pt x="291" y="264"/>
                  <a:pt x="280" y="253"/>
                  <a:pt x="280" y="240"/>
                </a:cubicBezTo>
                <a:cubicBezTo>
                  <a:pt x="280" y="227"/>
                  <a:pt x="291" y="216"/>
                  <a:pt x="304" y="216"/>
                </a:cubicBezTo>
                <a:cubicBezTo>
                  <a:pt x="317" y="216"/>
                  <a:pt x="328" y="227"/>
                  <a:pt x="328" y="240"/>
                </a:cubicBezTo>
                <a:close/>
                <a:moveTo>
                  <a:pt x="256" y="344"/>
                </a:moveTo>
                <a:cubicBezTo>
                  <a:pt x="243" y="344"/>
                  <a:pt x="232" y="333"/>
                  <a:pt x="232" y="320"/>
                </a:cubicBezTo>
                <a:cubicBezTo>
                  <a:pt x="232" y="307"/>
                  <a:pt x="243" y="296"/>
                  <a:pt x="256" y="296"/>
                </a:cubicBezTo>
                <a:cubicBezTo>
                  <a:pt x="269" y="296"/>
                  <a:pt x="280" y="307"/>
                  <a:pt x="280" y="320"/>
                </a:cubicBezTo>
                <a:cubicBezTo>
                  <a:pt x="280" y="333"/>
                  <a:pt x="269" y="344"/>
                  <a:pt x="256" y="344"/>
                </a:cubicBezTo>
                <a:close/>
                <a:moveTo>
                  <a:pt x="424" y="240"/>
                </a:moveTo>
                <a:cubicBezTo>
                  <a:pt x="424" y="253"/>
                  <a:pt x="413" y="264"/>
                  <a:pt x="400" y="264"/>
                </a:cubicBezTo>
                <a:cubicBezTo>
                  <a:pt x="387" y="264"/>
                  <a:pt x="376" y="253"/>
                  <a:pt x="376" y="240"/>
                </a:cubicBezTo>
                <a:cubicBezTo>
                  <a:pt x="376" y="227"/>
                  <a:pt x="387" y="216"/>
                  <a:pt x="400" y="216"/>
                </a:cubicBezTo>
                <a:cubicBezTo>
                  <a:pt x="413" y="216"/>
                  <a:pt x="424" y="227"/>
                  <a:pt x="424" y="240"/>
                </a:cubicBezTo>
                <a:close/>
                <a:moveTo>
                  <a:pt x="352" y="344"/>
                </a:moveTo>
                <a:cubicBezTo>
                  <a:pt x="339" y="344"/>
                  <a:pt x="328" y="333"/>
                  <a:pt x="328" y="320"/>
                </a:cubicBezTo>
                <a:cubicBezTo>
                  <a:pt x="328" y="307"/>
                  <a:pt x="339" y="296"/>
                  <a:pt x="352" y="296"/>
                </a:cubicBezTo>
                <a:cubicBezTo>
                  <a:pt x="365" y="296"/>
                  <a:pt x="376" y="307"/>
                  <a:pt x="376" y="320"/>
                </a:cubicBezTo>
                <a:cubicBezTo>
                  <a:pt x="376" y="333"/>
                  <a:pt x="365" y="344"/>
                  <a:pt x="352" y="344"/>
                </a:cubicBezTo>
                <a:close/>
              </a:path>
            </a:pathLst>
          </a:custGeom>
          <a:solidFill>
            <a:srgbClr val="E8651C"/>
          </a:solidFill>
          <a:ln>
            <a:noFill/>
          </a:ln>
        </p:spPr>
      </p:sp>
      <p:sp>
        <p:nvSpPr>
          <p:cNvPr id="16" name="row3"/>
          <p:cNvSpPr txBox="1"/>
          <p:nvPr/>
        </p:nvSpPr>
        <p:spPr>
          <a:xfrm>
            <a:off x="1270000" y="4267200"/>
            <a:ext cx="7162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50" noProof="1" b="1">
                <a:solidFill>
                  <a:srgbClr val="26332C"/>
                </a:solidFill>
                <a:latin typeface="Liter"/>
                <a:ea typeface="Liter"/>
              </a:rPr>
              <a:t>Cierres de caja sin responsable</a:t>
            </a:r>
            <a:endParaRPr lang="en-US" sz="135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A8479"/>
                </a:solidFill>
                <a:latin typeface="Liter"/>
                <a:ea typeface="Liter"/>
              </a:rPr>
              <a:t>Diferencias de dinero sin dueño asignado ni cálculo sistemático.</a:t>
            </a:r>
            <a:endParaRPr lang="en-US" sz="1350" noProof="1"/>
          </a:p>
        </p:txBody>
      </p:sp>
      <p:sp>
        <p:nvSpPr>
          <p:cNvPr id="17" name="row4-line"/>
          <p:cNvSpPr/>
          <p:nvPr/>
        </p:nvSpPr>
        <p:spPr>
          <a:xfrm>
            <a:off x="812800" y="5029200"/>
            <a:ext cx="76200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8" name="row4-icon"/>
          <p:cNvSpPr/>
          <p:nvPr>
            <p:extLst>
              <p:ext uri="{F5677B7D-0D2A-4D9B-9A5C-6D8D7D0E5A5D}">
                <pptd:icon encoding="base64url">eyJpY29uTmFtZSI6ImZhczpib3hlcy1zdGFja2VkIn0</pptd:icon>
              </p:ext>
            </p:extLst>
          </p:nvPr>
        </p:nvSpPr>
        <p:spPr>
          <a:xfrm>
            <a:off x="812800" y="5232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4" y="0"/>
                </a:moveTo>
                <a:lnTo>
                  <a:pt x="224" y="64"/>
                </a:lnTo>
                <a:cubicBezTo>
                  <a:pt x="224" y="73"/>
                  <a:pt x="231" y="80"/>
                  <a:pt x="240" y="80"/>
                </a:cubicBezTo>
                <a:lnTo>
                  <a:pt x="272" y="80"/>
                </a:lnTo>
                <a:cubicBezTo>
                  <a:pt x="281" y="80"/>
                  <a:pt x="288" y="73"/>
                  <a:pt x="288" y="64"/>
                </a:cubicBezTo>
                <a:lnTo>
                  <a:pt x="288" y="0"/>
                </a:lnTo>
                <a:lnTo>
                  <a:pt x="320" y="0"/>
                </a:lnTo>
                <a:cubicBezTo>
                  <a:pt x="355" y="0"/>
                  <a:pt x="384" y="29"/>
                  <a:pt x="384" y="64"/>
                </a:cubicBezTo>
                <a:lnTo>
                  <a:pt x="384" y="192"/>
                </a:lnTo>
                <a:cubicBezTo>
                  <a:pt x="384" y="198"/>
                  <a:pt x="383" y="203"/>
                  <a:pt x="382" y="208"/>
                </a:cubicBezTo>
                <a:lnTo>
                  <a:pt x="130" y="208"/>
                </a:lnTo>
                <a:cubicBezTo>
                  <a:pt x="129" y="203"/>
                  <a:pt x="128" y="198"/>
                  <a:pt x="128" y="192"/>
                </a:cubicBezTo>
                <a:lnTo>
                  <a:pt x="128" y="64"/>
                </a:lnTo>
                <a:cubicBezTo>
                  <a:pt x="128" y="29"/>
                  <a:pt x="157" y="0"/>
                  <a:pt x="192" y="0"/>
                </a:cubicBezTo>
                <a:lnTo>
                  <a:pt x="224" y="0"/>
                </a:lnTo>
                <a:close/>
              </a:path>
              <a:path w="512" h="512">
                <a:moveTo>
                  <a:pt x="320" y="512"/>
                </a:moveTo>
                <a:cubicBezTo>
                  <a:pt x="309" y="512"/>
                  <a:pt x="298" y="509"/>
                  <a:pt x="289" y="504"/>
                </a:cubicBezTo>
                <a:cubicBezTo>
                  <a:pt x="299" y="488"/>
                  <a:pt x="304" y="468"/>
                  <a:pt x="304" y="448"/>
                </a:cubicBezTo>
                <a:lnTo>
                  <a:pt x="304" y="320"/>
                </a:lnTo>
                <a:cubicBezTo>
                  <a:pt x="304" y="300"/>
                  <a:pt x="299" y="281"/>
                  <a:pt x="289" y="264"/>
                </a:cubicBezTo>
                <a:cubicBezTo>
                  <a:pt x="298" y="259"/>
                  <a:pt x="309" y="256"/>
                  <a:pt x="320" y="256"/>
                </a:cubicBezTo>
                <a:lnTo>
                  <a:pt x="352" y="256"/>
                </a:lnTo>
                <a:lnTo>
                  <a:pt x="352" y="320"/>
                </a:lnTo>
                <a:cubicBezTo>
                  <a:pt x="352" y="329"/>
                  <a:pt x="359" y="336"/>
                  <a:pt x="368" y="336"/>
                </a:cubicBezTo>
                <a:lnTo>
                  <a:pt x="400" y="336"/>
                </a:lnTo>
                <a:cubicBezTo>
                  <a:pt x="409" y="336"/>
                  <a:pt x="416" y="329"/>
                  <a:pt x="416" y="320"/>
                </a:cubicBezTo>
                <a:lnTo>
                  <a:pt x="416" y="256"/>
                </a:lnTo>
                <a:lnTo>
                  <a:pt x="448" y="256"/>
                </a:lnTo>
                <a:cubicBezTo>
                  <a:pt x="483" y="256"/>
                  <a:pt x="512" y="285"/>
                  <a:pt x="512" y="320"/>
                </a:cubicBezTo>
                <a:lnTo>
                  <a:pt x="512" y="448"/>
                </a:lnTo>
                <a:cubicBezTo>
                  <a:pt x="512" y="483"/>
                  <a:pt x="483" y="512"/>
                  <a:pt x="448" y="512"/>
                </a:cubicBezTo>
                <a:lnTo>
                  <a:pt x="320" y="512"/>
                </a:lnTo>
                <a:close/>
              </a:path>
              <a:path w="512" h="512">
                <a:moveTo>
                  <a:pt x="0" y="320"/>
                </a:moveTo>
                <a:cubicBezTo>
                  <a:pt x="0" y="285"/>
                  <a:pt x="29" y="256"/>
                  <a:pt x="64" y="256"/>
                </a:cubicBezTo>
                <a:lnTo>
                  <a:pt x="96" y="256"/>
                </a:lnTo>
                <a:lnTo>
                  <a:pt x="96" y="320"/>
                </a:lnTo>
                <a:cubicBezTo>
                  <a:pt x="96" y="329"/>
                  <a:pt x="103" y="336"/>
                  <a:pt x="112" y="336"/>
                </a:cubicBezTo>
                <a:lnTo>
                  <a:pt x="144" y="336"/>
                </a:lnTo>
                <a:cubicBezTo>
                  <a:pt x="153" y="336"/>
                  <a:pt x="160" y="329"/>
                  <a:pt x="160" y="320"/>
                </a:cubicBezTo>
                <a:lnTo>
                  <a:pt x="160" y="256"/>
                </a:lnTo>
                <a:lnTo>
                  <a:pt x="192" y="256"/>
                </a:lnTo>
                <a:cubicBezTo>
                  <a:pt x="227" y="256"/>
                  <a:pt x="256" y="285"/>
                  <a:pt x="256" y="320"/>
                </a:cubicBezTo>
                <a:lnTo>
                  <a:pt x="256" y="448"/>
                </a:lnTo>
                <a:cubicBezTo>
                  <a:pt x="256" y="483"/>
                  <a:pt x="227" y="512"/>
                  <a:pt x="192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320"/>
                </a:lnTo>
                <a:close/>
              </a:path>
            </a:pathLst>
          </a:custGeom>
          <a:solidFill>
            <a:srgbClr val="E8651C"/>
          </a:solidFill>
          <a:ln>
            <a:noFill/>
          </a:ln>
        </p:spPr>
      </p:sp>
      <p:sp>
        <p:nvSpPr>
          <p:cNvPr id="19" name="row4"/>
          <p:cNvSpPr txBox="1"/>
          <p:nvPr/>
        </p:nvSpPr>
        <p:spPr>
          <a:xfrm>
            <a:off x="1270000" y="5156200"/>
            <a:ext cx="7162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50" noProof="1" b="1">
                <a:solidFill>
                  <a:srgbClr val="26332C"/>
                </a:solidFill>
                <a:latin typeface="Liter"/>
                <a:ea typeface="Liter"/>
              </a:rPr>
              <a:t>Inventario sin contraste</a:t>
            </a:r>
            <a:endParaRPr lang="en-US" sz="135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A8479"/>
                </a:solidFill>
                <a:latin typeface="Liter"/>
                <a:ea typeface="Liter"/>
              </a:rPr>
              <a:t>El stock teórico nunca se compara contra el consumo real: mermas invisibles.</a:t>
            </a:r>
            <a:endParaRPr lang="en-US" sz="1350" noProof="1"/>
          </a:p>
        </p:txBody>
      </p:sp>
      <p:sp>
        <p:nvSpPr>
          <p:cNvPr id="20" name="concl-line"/>
          <p:cNvSpPr/>
          <p:nvPr/>
        </p:nvSpPr>
        <p:spPr>
          <a:xfrm>
            <a:off x="812800" y="59944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21" name="conclusion"/>
          <p:cNvSpPr txBox="1"/>
          <p:nvPr/>
        </p:nvSpPr>
        <p:spPr>
          <a:xfrm>
            <a:off x="812800" y="6146800"/>
            <a:ext cx="10566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E3B33"/>
                </a:solidFill>
                <a:latin typeface="Liter"/>
                <a:ea typeface="Liter"/>
              </a:rPr>
              <a:t>Resultado: información aislada por local, sin visión consolidada del negocio.</a:t>
            </a:r>
            <a:endParaRPr lang="en-US" sz="1400" noProof="1"/>
          </a:p>
        </p:txBody>
      </p:sp>
      <p:sp>
        <p:nvSpPr>
          <p:cNvPr id="22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A8479"/>
                </a:solidFill>
                <a:latin typeface="Liter"/>
                <a:ea typeface="Liter"/>
              </a:rPr>
              <a:t>04</a:t>
            </a:r>
            <a:endParaRPr lang="en-US" sz="11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8651C"/>
                </a:solidFill>
                <a:latin typeface="Liter"/>
                <a:ea typeface="Liter"/>
              </a:rPr>
              <a:t>01 · NEGOCIO — LO QUE EVITAMOS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1016000"/>
            <a:ext cx="7620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1E3B33"/>
                </a:solidFill>
                <a:latin typeface="Archivo Black"/>
                <a:ea typeface="Archivo Black"/>
              </a:rPr>
              <a:t>El sistema evita multas laborales y pérdidas que hoy no se ven</a:t>
            </a:r>
            <a:endParaRPr lang="en-US" sz="2600" noProof="1"/>
          </a:p>
        </p:txBody>
      </p:sp>
      <p:sp>
        <p:nvSpPr>
          <p:cNvPr id="4" name="stat"/>
          <p:cNvSpPr txBox="1"/>
          <p:nvPr/>
        </p:nvSpPr>
        <p:spPr>
          <a:xfrm>
            <a:off x="8534400" y="1066800"/>
            <a:ext cx="2844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4200" noProof="1">
                <a:solidFill>
                  <a:srgbClr val="E8651C"/>
                </a:solidFill>
                <a:latin typeface="Archivo Black"/>
                <a:ea typeface="Archivo Black"/>
              </a:rPr>
              <a:t>5 años</a:t>
            </a:r>
            <a:endParaRPr lang="en-US" sz="4200" noProof="1"/>
          </a:p>
        </p:txBody>
      </p:sp>
      <p:sp>
        <p:nvSpPr>
          <p:cNvPr id="5" name="statlabel"/>
          <p:cNvSpPr txBox="1"/>
          <p:nvPr/>
        </p:nvSpPr>
        <p:spPr>
          <a:xfrm>
            <a:off x="8026400" y="1778000"/>
            <a:ext cx="3352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A8479"/>
                </a:solidFill>
                <a:latin typeface="Liter"/>
                <a:ea typeface="Liter"/>
              </a:rPr>
              <a:t>de conservación documental obligatoria exigida por la normativa</a:t>
            </a:r>
            <a:endParaRPr lang="en-US" sz="1100" noProof="1"/>
          </a:p>
        </p:txBody>
      </p:sp>
      <p:sp>
        <p:nvSpPr>
          <p:cNvPr id="6" name="row1-line"/>
          <p:cNvSpPr/>
          <p:nvPr/>
        </p:nvSpPr>
        <p:spPr>
          <a:xfrm>
            <a:off x="812800" y="24384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7" name="row1-icon"/>
          <p:cNvSpPr/>
          <p:nvPr>
            <p:extLst>
              <p:ext uri="{F5677B7D-0D2A-4D9B-9A5C-6D8D7D0E5A5D}">
                <pptd:icon encoding="base64url">eyJpY29uTmFtZSI6ImZhczpnYXZlbCJ9</pptd:icon>
              </p:ext>
            </p:extLst>
          </p:nvPr>
        </p:nvSpPr>
        <p:spPr>
          <a:xfrm>
            <a:off x="812800" y="2641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170" y="153"/>
                </a:moveTo>
                <a:lnTo>
                  <a:pt x="151" y="135"/>
                </a:lnTo>
                <a:cubicBezTo>
                  <a:pt x="138" y="122"/>
                  <a:pt x="138" y="102"/>
                  <a:pt x="151" y="89"/>
                </a:cubicBezTo>
                <a:lnTo>
                  <a:pt x="266" y="-25"/>
                </a:lnTo>
                <a:cubicBezTo>
                  <a:pt x="278" y="-38"/>
                  <a:pt x="298" y="-38"/>
                  <a:pt x="311" y="-25"/>
                </a:cubicBezTo>
                <a:lnTo>
                  <a:pt x="330" y="-7"/>
                </a:lnTo>
                <a:cubicBezTo>
                  <a:pt x="342" y="6"/>
                  <a:pt x="342" y="26"/>
                  <a:pt x="330" y="39"/>
                </a:cubicBezTo>
                <a:lnTo>
                  <a:pt x="215" y="153"/>
                </a:lnTo>
                <a:cubicBezTo>
                  <a:pt x="202" y="166"/>
                  <a:pt x="182" y="166"/>
                  <a:pt x="170" y="153"/>
                </a:cubicBezTo>
                <a:close/>
              </a:path>
              <a:path w="576" h="512">
                <a:moveTo>
                  <a:pt x="276" y="212"/>
                </a:moveTo>
                <a:lnTo>
                  <a:pt x="245" y="180"/>
                </a:lnTo>
                <a:lnTo>
                  <a:pt x="357" y="68"/>
                </a:lnTo>
                <a:lnTo>
                  <a:pt x="476" y="188"/>
                </a:lnTo>
                <a:lnTo>
                  <a:pt x="364" y="300"/>
                </a:lnTo>
                <a:lnTo>
                  <a:pt x="333" y="268"/>
                </a:lnTo>
                <a:lnTo>
                  <a:pt x="101" y="500"/>
                </a:lnTo>
                <a:cubicBezTo>
                  <a:pt x="85" y="516"/>
                  <a:pt x="60" y="516"/>
                  <a:pt x="44" y="500"/>
                </a:cubicBezTo>
                <a:cubicBezTo>
                  <a:pt x="28" y="485"/>
                  <a:pt x="28" y="459"/>
                  <a:pt x="44" y="444"/>
                </a:cubicBezTo>
                <a:lnTo>
                  <a:pt x="276" y="212"/>
                </a:lnTo>
                <a:close/>
              </a:path>
              <a:path w="576" h="512">
                <a:moveTo>
                  <a:pt x="391" y="375"/>
                </a:moveTo>
                <a:cubicBezTo>
                  <a:pt x="378" y="362"/>
                  <a:pt x="378" y="342"/>
                  <a:pt x="391" y="329"/>
                </a:cubicBezTo>
                <a:lnTo>
                  <a:pt x="506" y="215"/>
                </a:lnTo>
                <a:cubicBezTo>
                  <a:pt x="518" y="202"/>
                  <a:pt x="538" y="202"/>
                  <a:pt x="551" y="215"/>
                </a:cubicBezTo>
                <a:lnTo>
                  <a:pt x="570" y="233"/>
                </a:lnTo>
                <a:cubicBezTo>
                  <a:pt x="582" y="246"/>
                  <a:pt x="582" y="266"/>
                  <a:pt x="570" y="279"/>
                </a:cubicBezTo>
                <a:lnTo>
                  <a:pt x="455" y="393"/>
                </a:lnTo>
                <a:cubicBezTo>
                  <a:pt x="442" y="406"/>
                  <a:pt x="422" y="406"/>
                  <a:pt x="410" y="393"/>
                </a:cubicBezTo>
                <a:lnTo>
                  <a:pt x="391" y="375"/>
                </a:lnTo>
                <a:close/>
              </a:path>
            </a:pathLst>
          </a:custGeom>
          <a:solidFill>
            <a:srgbClr val="E8651C"/>
          </a:solidFill>
          <a:ln>
            <a:noFill/>
          </a:ln>
        </p:spPr>
      </p:sp>
      <p:sp>
        <p:nvSpPr>
          <p:cNvPr id="8" name="row1"/>
          <p:cNvSpPr txBox="1"/>
          <p:nvPr/>
        </p:nvSpPr>
        <p:spPr>
          <a:xfrm>
            <a:off x="1270000" y="2565400"/>
            <a:ext cx="10109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50" noProof="1" b="1">
                <a:solidFill>
                  <a:srgbClr val="26332C"/>
                </a:solidFill>
                <a:latin typeface="Liter"/>
                <a:ea typeface="Liter"/>
              </a:rPr>
              <a:t>Multas de la Dirección del Trabajo — art. 9 bis</a:t>
            </a:r>
            <a:endParaRPr lang="en-US" sz="135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A8479"/>
                </a:solidFill>
                <a:latin typeface="Liter"/>
                <a:ea typeface="Liter"/>
              </a:rPr>
              <a:t>Documentación laboral respaldada con hash de integridad SHA-256, control de versiones y conservación por 5 años.</a:t>
            </a:r>
            <a:endParaRPr lang="en-US" sz="1350" noProof="1"/>
          </a:p>
        </p:txBody>
      </p:sp>
      <p:sp>
        <p:nvSpPr>
          <p:cNvPr id="9" name="row2-line"/>
          <p:cNvSpPr/>
          <p:nvPr/>
        </p:nvSpPr>
        <p:spPr>
          <a:xfrm>
            <a:off x="812800" y="3276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0" name="row2-icon"/>
          <p:cNvSpPr/>
          <p:nvPr>
            <p:extLst>
              <p:ext uri="{F5677B7D-0D2A-4D9B-9A5C-6D8D7D0E5A5D}">
                <pptd:icon encoding="base64url">eyJpY29uTmFtZSI6ImZhczpoYW5kLWhvbGRpbmctZG9sbGFyIn0</pptd:icon>
              </p:ext>
            </p:extLst>
          </p:nvPr>
        </p:nvSpPr>
        <p:spPr>
          <a:xfrm>
            <a:off x="812800" y="3479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88" y="-16"/>
                </a:moveTo>
                <a:cubicBezTo>
                  <a:pt x="275" y="-16"/>
                  <a:pt x="264" y="-5"/>
                  <a:pt x="264" y="8"/>
                </a:cubicBezTo>
                <a:lnTo>
                  <a:pt x="264" y="20"/>
                </a:lnTo>
                <a:lnTo>
                  <a:pt x="262" y="20"/>
                </a:lnTo>
                <a:cubicBezTo>
                  <a:pt x="226" y="20"/>
                  <a:pt x="196" y="50"/>
                  <a:pt x="196" y="86"/>
                </a:cubicBezTo>
                <a:cubicBezTo>
                  <a:pt x="196" y="120"/>
                  <a:pt x="221" y="148"/>
                  <a:pt x="254" y="152"/>
                </a:cubicBezTo>
                <a:lnTo>
                  <a:pt x="315" y="160"/>
                </a:lnTo>
                <a:cubicBezTo>
                  <a:pt x="320" y="160"/>
                  <a:pt x="324" y="165"/>
                  <a:pt x="324" y="170"/>
                </a:cubicBezTo>
                <a:cubicBezTo>
                  <a:pt x="324" y="175"/>
                  <a:pt x="319" y="180"/>
                  <a:pt x="314" y="180"/>
                </a:cubicBezTo>
                <a:lnTo>
                  <a:pt x="240" y="180"/>
                </a:lnTo>
                <a:cubicBezTo>
                  <a:pt x="225" y="180"/>
                  <a:pt x="212" y="193"/>
                  <a:pt x="212" y="208"/>
                </a:cubicBezTo>
                <a:cubicBezTo>
                  <a:pt x="212" y="224"/>
                  <a:pt x="225" y="236"/>
                  <a:pt x="240" y="236"/>
                </a:cubicBezTo>
                <a:lnTo>
                  <a:pt x="264" y="236"/>
                </a:lnTo>
                <a:lnTo>
                  <a:pt x="264" y="248"/>
                </a:lnTo>
                <a:cubicBezTo>
                  <a:pt x="264" y="261"/>
                  <a:pt x="275" y="272"/>
                  <a:pt x="288" y="272"/>
                </a:cubicBezTo>
                <a:cubicBezTo>
                  <a:pt x="301" y="272"/>
                  <a:pt x="312" y="261"/>
                  <a:pt x="312" y="248"/>
                </a:cubicBezTo>
                <a:lnTo>
                  <a:pt x="312" y="236"/>
                </a:lnTo>
                <a:lnTo>
                  <a:pt x="314" y="236"/>
                </a:lnTo>
                <a:cubicBezTo>
                  <a:pt x="350" y="236"/>
                  <a:pt x="380" y="206"/>
                  <a:pt x="380" y="170"/>
                </a:cubicBezTo>
                <a:cubicBezTo>
                  <a:pt x="380" y="136"/>
                  <a:pt x="355" y="108"/>
                  <a:pt x="322" y="104"/>
                </a:cubicBezTo>
                <a:lnTo>
                  <a:pt x="261" y="97"/>
                </a:lnTo>
                <a:cubicBezTo>
                  <a:pt x="256" y="96"/>
                  <a:pt x="252" y="92"/>
                  <a:pt x="252" y="86"/>
                </a:cubicBezTo>
                <a:cubicBezTo>
                  <a:pt x="252" y="81"/>
                  <a:pt x="257" y="76"/>
                  <a:pt x="262" y="76"/>
                </a:cubicBezTo>
                <a:lnTo>
                  <a:pt x="328" y="76"/>
                </a:lnTo>
                <a:cubicBezTo>
                  <a:pt x="344" y="76"/>
                  <a:pt x="356" y="64"/>
                  <a:pt x="356" y="48"/>
                </a:cubicBezTo>
                <a:cubicBezTo>
                  <a:pt x="356" y="33"/>
                  <a:pt x="344" y="20"/>
                  <a:pt x="328" y="20"/>
                </a:cubicBezTo>
                <a:lnTo>
                  <a:pt x="312" y="20"/>
                </a:lnTo>
                <a:lnTo>
                  <a:pt x="312" y="8"/>
                </a:lnTo>
                <a:cubicBezTo>
                  <a:pt x="312" y="-5"/>
                  <a:pt x="301" y="-16"/>
                  <a:pt x="288" y="-16"/>
                </a:cubicBezTo>
                <a:close/>
                <a:moveTo>
                  <a:pt x="109" y="342"/>
                </a:moveTo>
                <a:lnTo>
                  <a:pt x="67" y="384"/>
                </a:lnTo>
                <a:lnTo>
                  <a:pt x="32" y="384"/>
                </a:lnTo>
                <a:cubicBezTo>
                  <a:pt x="14" y="384"/>
                  <a:pt x="0" y="398"/>
                  <a:pt x="0" y="416"/>
                </a:cubicBezTo>
                <a:lnTo>
                  <a:pt x="0" y="480"/>
                </a:lnTo>
                <a:cubicBezTo>
                  <a:pt x="0" y="498"/>
                  <a:pt x="14" y="512"/>
                  <a:pt x="32" y="512"/>
                </a:cubicBezTo>
                <a:lnTo>
                  <a:pt x="353" y="512"/>
                </a:lnTo>
                <a:cubicBezTo>
                  <a:pt x="382" y="512"/>
                  <a:pt x="410" y="503"/>
                  <a:pt x="433" y="486"/>
                </a:cubicBezTo>
                <a:lnTo>
                  <a:pt x="560" y="392"/>
                </a:lnTo>
                <a:cubicBezTo>
                  <a:pt x="578" y="379"/>
                  <a:pt x="581" y="354"/>
                  <a:pt x="568" y="336"/>
                </a:cubicBezTo>
                <a:cubicBezTo>
                  <a:pt x="555" y="319"/>
                  <a:pt x="530" y="315"/>
                  <a:pt x="512" y="328"/>
                </a:cubicBezTo>
                <a:lnTo>
                  <a:pt x="393" y="416"/>
                </a:lnTo>
                <a:lnTo>
                  <a:pt x="280" y="416"/>
                </a:lnTo>
                <a:cubicBezTo>
                  <a:pt x="267" y="416"/>
                  <a:pt x="256" y="405"/>
                  <a:pt x="256" y="392"/>
                </a:cubicBezTo>
                <a:cubicBezTo>
                  <a:pt x="256" y="379"/>
                  <a:pt x="267" y="368"/>
                  <a:pt x="280" y="368"/>
                </a:cubicBezTo>
                <a:lnTo>
                  <a:pt x="352" y="368"/>
                </a:lnTo>
                <a:cubicBezTo>
                  <a:pt x="370" y="368"/>
                  <a:pt x="384" y="354"/>
                  <a:pt x="384" y="336"/>
                </a:cubicBezTo>
                <a:cubicBezTo>
                  <a:pt x="384" y="318"/>
                  <a:pt x="370" y="304"/>
                  <a:pt x="352" y="304"/>
                </a:cubicBezTo>
                <a:lnTo>
                  <a:pt x="200" y="304"/>
                </a:lnTo>
                <a:cubicBezTo>
                  <a:pt x="166" y="304"/>
                  <a:pt x="133" y="318"/>
                  <a:pt x="109" y="342"/>
                </a:cubicBezTo>
                <a:close/>
              </a:path>
            </a:pathLst>
          </a:custGeom>
          <a:solidFill>
            <a:srgbClr val="E8651C"/>
          </a:solidFill>
          <a:ln>
            <a:noFill/>
          </a:ln>
        </p:spPr>
      </p:sp>
      <p:sp>
        <p:nvSpPr>
          <p:cNvPr id="11" name="row2"/>
          <p:cNvSpPr txBox="1"/>
          <p:nvPr/>
        </p:nvSpPr>
        <p:spPr>
          <a:xfrm>
            <a:off x="1270000" y="3403600"/>
            <a:ext cx="10109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50" noProof="1" b="1">
                <a:solidFill>
                  <a:srgbClr val="26332C"/>
                </a:solidFill>
                <a:latin typeface="Liter"/>
                <a:ea typeface="Liter"/>
              </a:rPr>
              <a:t>Sanciones por reparto de propinas — art. 64</a:t>
            </a:r>
            <a:endParaRPr lang="en-US" sz="135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A8479"/>
                </a:solidFill>
                <a:latin typeface="Liter"/>
                <a:ea typeface="Liter"/>
              </a:rPr>
              <a:t>Cálculo y pago oportuno de propinas con registro escrito, validado por el contador antes de cada liberación.</a:t>
            </a:r>
            <a:endParaRPr lang="en-US" sz="1350" noProof="1"/>
          </a:p>
        </p:txBody>
      </p:sp>
      <p:sp>
        <p:nvSpPr>
          <p:cNvPr id="12" name="row3-line"/>
          <p:cNvSpPr/>
          <p:nvPr/>
        </p:nvSpPr>
        <p:spPr>
          <a:xfrm>
            <a:off x="812800" y="4114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3" name="row3-icon"/>
          <p:cNvSpPr/>
          <p:nvPr>
            <p:extLst>
              <p:ext uri="{F5677B7D-0D2A-4D9B-9A5C-6D8D7D0E5A5D}">
                <pptd:icon encoding="base64url">eyJpY29uTmFtZSI6ImZhczpjaGFydC1saW5lIn0</pptd:icon>
              </p:ext>
            </p:extLst>
          </p:nvPr>
        </p:nvSpPr>
        <p:spPr>
          <a:xfrm>
            <a:off x="812800" y="4318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E8651C"/>
          </a:solidFill>
          <a:ln>
            <a:noFill/>
          </a:ln>
        </p:spPr>
      </p:sp>
      <p:sp>
        <p:nvSpPr>
          <p:cNvPr id="14" name="row3"/>
          <p:cNvSpPr txBox="1"/>
          <p:nvPr/>
        </p:nvSpPr>
        <p:spPr>
          <a:xfrm>
            <a:off x="1270000" y="4241800"/>
            <a:ext cx="10109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50" noProof="1" b="1">
                <a:solidFill>
                  <a:srgbClr val="26332C"/>
                </a:solidFill>
                <a:latin typeface="Liter"/>
                <a:ea typeface="Liter"/>
              </a:rPr>
              <a:t>Pérdidas económicas por mermas no detectadas</a:t>
            </a:r>
            <a:endParaRPr lang="en-US" sz="135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A8479"/>
                </a:solidFill>
                <a:latin typeface="Liter"/>
                <a:ea typeface="Liter"/>
              </a:rPr>
              <a:t>El stock se compara contra el consumo real: los desvíos y el stock bajo el mínimo quedan visibles al día.</a:t>
            </a:r>
            <a:endParaRPr lang="en-US" sz="1350" noProof="1"/>
          </a:p>
        </p:txBody>
      </p:sp>
      <p:sp>
        <p:nvSpPr>
          <p:cNvPr id="15" name="row4-line"/>
          <p:cNvSpPr/>
          <p:nvPr/>
        </p:nvSpPr>
        <p:spPr>
          <a:xfrm>
            <a:off x="812800" y="49530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6" name="row4-icon"/>
          <p:cNvSpPr/>
          <p:nvPr>
            <p:extLst>
              <p:ext uri="{F5677B7D-0D2A-4D9B-9A5C-6D8D7D0E5A5D}">
                <pptd:icon encoding="base64url">eyJpY29uTmFtZSI6ImZhczp1c2VyLXNoaWVsZCJ9</pptd:icon>
              </p:ext>
            </p:extLst>
          </p:nvPr>
        </p:nvSpPr>
        <p:spPr>
          <a:xfrm>
            <a:off x="812800" y="5156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</a:path>
              <a:path w="576" h="512"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297" y="512"/>
                </a:lnTo>
                <a:cubicBezTo>
                  <a:pt x="261" y="469"/>
                  <a:pt x="240" y="415"/>
                  <a:pt x="240" y="356"/>
                </a:cubicBezTo>
                <a:lnTo>
                  <a:pt x="240" y="325"/>
                </a:lnTo>
                <a:cubicBezTo>
                  <a:pt x="240" y="318"/>
                  <a:pt x="241" y="311"/>
                  <a:pt x="243" y="304"/>
                </a:cubicBezTo>
                <a:lnTo>
                  <a:pt x="194" y="304"/>
                </a:lnTo>
                <a:close/>
              </a:path>
              <a:path w="576" h="512">
                <a:moveTo>
                  <a:pt x="422" y="260"/>
                </a:moveTo>
                <a:lnTo>
                  <a:pt x="310" y="297"/>
                </a:lnTo>
                <a:cubicBezTo>
                  <a:pt x="297" y="301"/>
                  <a:pt x="288" y="313"/>
                  <a:pt x="288" y="327"/>
                </a:cubicBezTo>
                <a:lnTo>
                  <a:pt x="288" y="358"/>
                </a:lnTo>
                <a:cubicBezTo>
                  <a:pt x="288" y="433"/>
                  <a:pt x="331" y="500"/>
                  <a:pt x="398" y="532"/>
                </a:cubicBezTo>
                <a:lnTo>
                  <a:pt x="417" y="541"/>
                </a:lnTo>
                <a:cubicBezTo>
                  <a:pt x="422" y="543"/>
                  <a:pt x="427" y="544"/>
                  <a:pt x="432" y="544"/>
                </a:cubicBezTo>
                <a:cubicBezTo>
                  <a:pt x="437" y="544"/>
                  <a:pt x="442" y="543"/>
                  <a:pt x="447" y="541"/>
                </a:cubicBezTo>
                <a:lnTo>
                  <a:pt x="466" y="532"/>
                </a:lnTo>
                <a:cubicBezTo>
                  <a:pt x="533" y="500"/>
                  <a:pt x="576" y="433"/>
                  <a:pt x="576" y="358"/>
                </a:cubicBezTo>
                <a:lnTo>
                  <a:pt x="576" y="327"/>
                </a:lnTo>
                <a:cubicBezTo>
                  <a:pt x="576" y="313"/>
                  <a:pt x="567" y="301"/>
                  <a:pt x="554" y="297"/>
                </a:cubicBezTo>
                <a:lnTo>
                  <a:pt x="442" y="259"/>
                </a:lnTo>
                <a:cubicBezTo>
                  <a:pt x="436" y="257"/>
                  <a:pt x="428" y="257"/>
                  <a:pt x="422" y="259"/>
                </a:cubicBezTo>
                <a:close/>
                <a:moveTo>
                  <a:pt x="445" y="489"/>
                </a:moveTo>
                <a:lnTo>
                  <a:pt x="432" y="495"/>
                </a:lnTo>
                <a:lnTo>
                  <a:pt x="432" y="307"/>
                </a:lnTo>
                <a:lnTo>
                  <a:pt x="528" y="339"/>
                </a:lnTo>
                <a:lnTo>
                  <a:pt x="528" y="358"/>
                </a:lnTo>
                <a:cubicBezTo>
                  <a:pt x="528" y="414"/>
                  <a:pt x="496" y="465"/>
                  <a:pt x="445" y="489"/>
                </a:cubicBezTo>
                <a:close/>
              </a:path>
            </a:pathLst>
          </a:custGeom>
          <a:solidFill>
            <a:srgbClr val="E8651C"/>
          </a:solidFill>
          <a:ln>
            <a:noFill/>
          </a:ln>
        </p:spPr>
      </p:sp>
      <p:sp>
        <p:nvSpPr>
          <p:cNvPr id="17" name="row4"/>
          <p:cNvSpPr txBox="1"/>
          <p:nvPr/>
        </p:nvSpPr>
        <p:spPr>
          <a:xfrm>
            <a:off x="1270000" y="5080000"/>
            <a:ext cx="10109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50" noProof="1" b="1">
                <a:solidFill>
                  <a:srgbClr val="26332C"/>
                </a:solidFill>
                <a:latin typeface="Liter"/>
                <a:ea typeface="Liter"/>
              </a:rPr>
              <a:t>Incumplimiento de protección de datos — Ley N°21.719</a:t>
            </a:r>
            <a:endParaRPr lang="en-US" sz="135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A8479"/>
                </a:solidFill>
                <a:latin typeface="Liter"/>
                <a:ea typeface="Liter"/>
              </a:rPr>
              <a:t>Acceso por rol, aislamiento de la información de cada trabajador y registro de auditoría de todas las operaciones.</a:t>
            </a:r>
            <a:endParaRPr lang="en-US" sz="1350" noProof="1"/>
          </a:p>
        </p:txBody>
      </p:sp>
      <p:sp>
        <p:nvSpPr>
          <p:cNvPr id="18" name="concl-line"/>
          <p:cNvSpPr/>
          <p:nvPr/>
        </p:nvSpPr>
        <p:spPr>
          <a:xfrm>
            <a:off x="812800" y="58674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9" name="conclusion"/>
          <p:cNvSpPr txBox="1"/>
          <p:nvPr/>
        </p:nvSpPr>
        <p:spPr>
          <a:xfrm>
            <a:off x="812800" y="6045200"/>
            <a:ext cx="10566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E3B33"/>
                </a:solidFill>
                <a:latin typeface="Liter"/>
                <a:ea typeface="Liter"/>
              </a:rPr>
              <a:t>Cada módulo del sistema existe para apagar uno de estos riesgos.</a:t>
            </a:r>
            <a:endParaRPr lang="en-US" sz="1400" noProof="1"/>
          </a:p>
        </p:txBody>
      </p:sp>
      <p:sp>
        <p:nvSpPr>
          <p:cNvPr id="20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A8479"/>
                </a:solidFill>
                <a:latin typeface="Liter"/>
                <a:ea typeface="Liter"/>
              </a:rPr>
              <a:t>05</a:t>
            </a:r>
            <a:endParaRPr lang="en-US" sz="11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8651C"/>
                </a:solidFill>
                <a:latin typeface="Liter"/>
                <a:ea typeface="Liter"/>
              </a:rPr>
              <a:t>01 · NEGOCIO — LO QUE MEJORAMOS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10160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1E3B33"/>
                </a:solidFill>
                <a:latin typeface="Archivo Black"/>
                <a:ea typeface="Archivo Black"/>
              </a:rPr>
              <a:t>Seis módulos, una sola fuente de verdad para los 3 locales</a:t>
            </a:r>
            <a:endParaRPr lang="en-US" sz="2600" noProof="1"/>
          </a:p>
        </p:txBody>
      </p:sp>
      <p:sp>
        <p:nvSpPr>
          <p:cNvPr id="4" name="col1-line"/>
          <p:cNvSpPr/>
          <p:nvPr/>
        </p:nvSpPr>
        <p:spPr>
          <a:xfrm>
            <a:off x="812800" y="1905000"/>
            <a:ext cx="50292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5" name="m1"/>
          <p:cNvSpPr txBox="1"/>
          <p:nvPr/>
        </p:nvSpPr>
        <p:spPr>
          <a:xfrm>
            <a:off x="812800" y="2057400"/>
            <a:ext cx="5029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50" noProof="1" b="1">
                <a:solidFill>
                  <a:srgbClr val="E8651C"/>
                </a:solidFill>
                <a:latin typeface="Liter"/>
                <a:ea typeface="Liter"/>
              </a:rPr>
              <a:t>1 · Núcleo</a:t>
            </a:r>
            <a:endParaRPr lang="en-US" sz="135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A8479"/>
                </a:solidFill>
                <a:latin typeface="Liter"/>
                <a:ea typeface="Liter"/>
              </a:rPr>
              <a:t>Usuarios, roles y auditoría transversal a todo el sistema.</a:t>
            </a:r>
            <a:endParaRPr lang="en-US" sz="1350" noProof="1"/>
          </a:p>
        </p:txBody>
      </p:sp>
      <p:sp>
        <p:nvSpPr>
          <p:cNvPr id="6" name="m2-line"/>
          <p:cNvSpPr/>
          <p:nvPr/>
        </p:nvSpPr>
        <p:spPr>
          <a:xfrm>
            <a:off x="812800" y="2997200"/>
            <a:ext cx="50292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7" name="m2"/>
          <p:cNvSpPr txBox="1"/>
          <p:nvPr/>
        </p:nvSpPr>
        <p:spPr>
          <a:xfrm>
            <a:off x="812800" y="3149600"/>
            <a:ext cx="5029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50" noProof="1" b="1">
                <a:solidFill>
                  <a:srgbClr val="E8651C"/>
                </a:solidFill>
                <a:latin typeface="Liter"/>
                <a:ea typeface="Liter"/>
              </a:rPr>
              <a:t>2 · Gestor Documental</a:t>
            </a:r>
            <a:endParaRPr lang="en-US" sz="135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A8479"/>
                </a:solidFill>
                <a:latin typeface="Liter"/>
                <a:ea typeface="Liter"/>
              </a:rPr>
              <a:t>Archivos con hash SHA-256, control de versiones y alertas de plazos legales.</a:t>
            </a:r>
            <a:endParaRPr lang="en-US" sz="1350" noProof="1"/>
          </a:p>
        </p:txBody>
      </p:sp>
      <p:sp>
        <p:nvSpPr>
          <p:cNvPr id="8" name="m3-line"/>
          <p:cNvSpPr/>
          <p:nvPr/>
        </p:nvSpPr>
        <p:spPr>
          <a:xfrm>
            <a:off x="812800" y="4089400"/>
            <a:ext cx="50292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9" name="m3"/>
          <p:cNvSpPr txBox="1"/>
          <p:nvPr/>
        </p:nvSpPr>
        <p:spPr>
          <a:xfrm>
            <a:off x="812800" y="4241800"/>
            <a:ext cx="5029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50" noProof="1" b="1">
                <a:solidFill>
                  <a:srgbClr val="E8651C"/>
                </a:solidFill>
                <a:latin typeface="Liter"/>
                <a:ea typeface="Liter"/>
              </a:rPr>
              <a:t>3 · Propinas</a:t>
            </a:r>
            <a:endParaRPr lang="en-US" sz="135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A8479"/>
                </a:solidFill>
                <a:latin typeface="Liter"/>
                <a:ea typeface="Liter"/>
              </a:rPr>
              <a:t>Reparto por horas trabajadas, con cálculo validado por el contador.</a:t>
            </a:r>
            <a:endParaRPr lang="en-US" sz="1350" noProof="1"/>
          </a:p>
        </p:txBody>
      </p:sp>
      <p:sp>
        <p:nvSpPr>
          <p:cNvPr id="10" name="col2-line"/>
          <p:cNvSpPr/>
          <p:nvPr/>
        </p:nvSpPr>
        <p:spPr>
          <a:xfrm>
            <a:off x="6350000" y="1905000"/>
            <a:ext cx="50292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1" name="m4"/>
          <p:cNvSpPr txBox="1"/>
          <p:nvPr/>
        </p:nvSpPr>
        <p:spPr>
          <a:xfrm>
            <a:off x="6350000" y="2057400"/>
            <a:ext cx="5029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50" noProof="1" b="1">
                <a:solidFill>
                  <a:srgbClr val="E8651C"/>
                </a:solidFill>
                <a:latin typeface="Liter"/>
                <a:ea typeface="Liter"/>
              </a:rPr>
              <a:t>4 · Ventas y Caja</a:t>
            </a:r>
            <a:endParaRPr lang="en-US" sz="135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A8479"/>
                </a:solidFill>
                <a:latin typeface="Liter"/>
                <a:ea typeface="Liter"/>
              </a:rPr>
              <a:t>Cierre diario con responsable asociado y diferencia calculada.</a:t>
            </a:r>
            <a:endParaRPr lang="en-US" sz="1350" noProof="1"/>
          </a:p>
        </p:txBody>
      </p:sp>
      <p:sp>
        <p:nvSpPr>
          <p:cNvPr id="12" name="m5-line"/>
          <p:cNvSpPr/>
          <p:nvPr/>
        </p:nvSpPr>
        <p:spPr>
          <a:xfrm>
            <a:off x="6350000" y="2997200"/>
            <a:ext cx="50292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3" name="m5"/>
          <p:cNvSpPr txBox="1"/>
          <p:nvPr/>
        </p:nvSpPr>
        <p:spPr>
          <a:xfrm>
            <a:off x="6350000" y="3149600"/>
            <a:ext cx="5029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50" noProof="1" b="1">
                <a:solidFill>
                  <a:srgbClr val="E8651C"/>
                </a:solidFill>
                <a:latin typeface="Liter"/>
                <a:ea typeface="Liter"/>
              </a:rPr>
              <a:t>5 · Inventario</a:t>
            </a:r>
            <a:endParaRPr lang="en-US" sz="135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A8479"/>
                </a:solidFill>
                <a:latin typeface="Liter"/>
                <a:ea typeface="Liter"/>
              </a:rPr>
              <a:t>Stock teórico vs. consumo real, con alertas de merma y stock mínimo.</a:t>
            </a:r>
            <a:endParaRPr lang="en-US" sz="1350" noProof="1"/>
          </a:p>
        </p:txBody>
      </p:sp>
      <p:sp>
        <p:nvSpPr>
          <p:cNvPr id="14" name="m6-line"/>
          <p:cNvSpPr/>
          <p:nvPr/>
        </p:nvSpPr>
        <p:spPr>
          <a:xfrm>
            <a:off x="6350000" y="4089400"/>
            <a:ext cx="50292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5" name="m6"/>
          <p:cNvSpPr txBox="1"/>
          <p:nvPr/>
        </p:nvSpPr>
        <p:spPr>
          <a:xfrm>
            <a:off x="6350000" y="4241800"/>
            <a:ext cx="5029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50" noProof="1" b="1">
                <a:solidFill>
                  <a:srgbClr val="E8651C"/>
                </a:solidFill>
                <a:latin typeface="Liter"/>
                <a:ea typeface="Liter"/>
              </a:rPr>
              <a:t>6 · Portal del Trabajador</a:t>
            </a:r>
            <a:endParaRPr lang="en-US" sz="135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A8479"/>
                </a:solidFill>
                <a:latin typeface="Liter"/>
                <a:ea typeface="Liter"/>
              </a:rPr>
              <a:t>Autoservicio de solo lectura: cada trabajador ve solo su propia información.</a:t>
            </a:r>
            <a:endParaRPr lang="en-US" sz="1350" noProof="1"/>
          </a:p>
        </p:txBody>
      </p:sp>
      <p:sp>
        <p:nvSpPr>
          <p:cNvPr id="16" name="claim-rule"/>
          <p:cNvSpPr/>
          <p:nvPr/>
        </p:nvSpPr>
        <p:spPr>
          <a:xfrm>
            <a:off x="812800" y="5435600"/>
            <a:ext cx="63500" cy="711200"/>
          </a:xfrm>
          <a:prstGeom prst="rect">
            <a:avLst/>
          </a:prstGeom>
          <a:solidFill>
            <a:srgbClr val="E8651C"/>
          </a:solidFill>
          <a:ln>
            <a:noFill/>
          </a:ln>
        </p:spPr>
      </p:sp>
      <p:sp>
        <p:nvSpPr>
          <p:cNvPr id="17" name="claim"/>
          <p:cNvSpPr txBox="1"/>
          <p:nvPr/>
        </p:nvSpPr>
        <p:spPr>
          <a:xfrm>
            <a:off x="1117600" y="54356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550" noProof="1" b="1">
                <a:solidFill>
                  <a:srgbClr val="1E3B33"/>
                </a:solidFill>
                <a:latin typeface="Liter"/>
                <a:ea typeface="Liter"/>
              </a:rPr>
              <a:t>El dueño pasa de planillas aisladas a reportes por local y consolidados en un solo panel, con trazabilidad completa de cada operación.</a:t>
            </a:r>
            <a:endParaRPr lang="en-US" sz="1550" noProof="1"/>
          </a:p>
        </p:txBody>
      </p:sp>
      <p:sp>
        <p:nvSpPr>
          <p:cNvPr id="18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A8479"/>
                </a:solidFill>
                <a:latin typeface="Liter"/>
                <a:ea typeface="Liter"/>
              </a:rPr>
              <a:t>06</a:t>
            </a:r>
            <a:endParaRPr lang="en-US" sz="11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E3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1066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9B44C"/>
                </a:solidFill>
                <a:latin typeface="Liter"/>
                <a:ea typeface="Liter"/>
              </a:rPr>
              <a:t>SECCIÓN 02</a:t>
            </a:r>
            <a:endParaRPr lang="en-US" sz="1200" noProof="1"/>
          </a:p>
        </p:txBody>
      </p:sp>
      <p:sp>
        <p:nvSpPr>
          <p:cNvPr id="3" name="bignum"/>
          <p:cNvSpPr txBox="1"/>
          <p:nvPr/>
        </p:nvSpPr>
        <p:spPr>
          <a:xfrm>
            <a:off x="711200" y="1473200"/>
            <a:ext cx="5334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0" noProof="1">
                <a:solidFill>
                  <a:srgbClr val="E8651C"/>
                </a:solidFill>
                <a:latin typeface="Archivo Black"/>
                <a:ea typeface="Archivo Black"/>
              </a:rPr>
              <a:t>02</a:t>
            </a:r>
            <a:endParaRPr lang="en-US" sz="170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4343400"/>
            <a:ext cx="8890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600" noProof="1">
                <a:solidFill>
                  <a:srgbClr val="FFFDF8"/>
                </a:solidFill>
                <a:latin typeface="Archivo Black"/>
                <a:ea typeface="Archivo Black"/>
              </a:rPr>
              <a:t>Técnico</a:t>
            </a:r>
            <a:endParaRPr lang="en-US" sz="4600" noProof="1"/>
          </a:p>
        </p:txBody>
      </p:sp>
      <p:sp>
        <p:nvSpPr>
          <p:cNvPr id="5" name="sub"/>
          <p:cNvSpPr txBox="1"/>
          <p:nvPr/>
        </p:nvSpPr>
        <p:spPr>
          <a:xfrm>
            <a:off x="812800" y="5257800"/>
            <a:ext cx="838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50" noProof="1">
                <a:solidFill>
                  <a:srgbClr val="A8B3A6"/>
                </a:solidFill>
                <a:latin typeface="Liter"/>
                <a:ea typeface="Liter"/>
              </a:rPr>
              <a:t>Un stack homogéneo elegido por factibilidad, riesgo y costo — no por moda.</a:t>
            </a:r>
            <a:endParaRPr lang="en-US" sz="1550" noProof="1"/>
          </a:p>
        </p:txBody>
      </p:sp>
      <p:sp>
        <p:nvSpPr>
          <p:cNvPr id="6" name="goldline"/>
          <p:cNvSpPr/>
          <p:nvPr/>
        </p:nvSpPr>
        <p:spPr>
          <a:xfrm>
            <a:off x="812800" y="5867400"/>
            <a:ext cx="1524000" cy="38100"/>
          </a:xfrm>
          <a:prstGeom prst="rect">
            <a:avLst/>
          </a:prstGeom>
          <a:solidFill>
            <a:srgbClr val="E9B44C"/>
          </a:solidFill>
          <a:ln>
            <a:noFill/>
          </a:ln>
        </p:spPr>
      </p:sp>
      <p:sp>
        <p:nvSpPr>
          <p:cNvPr id="7" name="pagenum"/>
          <p:cNvSpPr txBox="1"/>
          <p:nvPr/>
        </p:nvSpPr>
        <p:spPr>
          <a:xfrm>
            <a:off x="11176000" y="64262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A8B3A6"/>
                </a:solidFill>
                <a:latin typeface="Liter"/>
                <a:ea typeface="Liter"/>
              </a:rPr>
              <a:t>07</a:t>
            </a:r>
            <a:endParaRPr lang="en-US" sz="11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8651C"/>
                </a:solidFill>
                <a:latin typeface="Liter"/>
                <a:ea typeface="Liter"/>
              </a:rPr>
              <a:t>02 · TÉCNICO — STACK TECNOLÓGICO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1016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1E3B33"/>
                </a:solidFill>
                <a:latin typeface="Archivo Black"/>
                <a:ea typeface="Archivo Black"/>
              </a:rPr>
              <a:t>Un solo lenguaje de punta a punta: TypeScript</a:t>
            </a:r>
            <a:endParaRPr lang="en-US" sz="2600" noProof="1"/>
          </a:p>
        </p:txBody>
      </p:sp>
      <p:graphicFrame>
        <p:nvGraphicFramePr>
          <p:cNvPr id="4" name="stack-table"/>
          <p:cNvGraphicFramePr>
            <a:graphicFrameLocks noGrp="1"/>
          </p:cNvGraphicFramePr>
          <p:nvPr/>
        </p:nvGraphicFramePr>
        <p:xfrm>
          <a:off x="812800" y="1778000"/>
          <a:ext cx="10566400" cy="4089400"/>
        </p:xfrm>
        <a:graphic>
          <a:graphicData uri="http://schemas.openxmlformats.org/drawingml/2006/table">
            <a:tbl>
              <a:tblPr/>
              <a:tblGrid>
                <a:gridCol w="1796288"/>
                <a:gridCol w="2641600"/>
                <a:gridCol w="6128512"/>
              </a:tblGrid>
              <a:tr h="470281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50" noProof="1" b="1" spc="150" kern="0">
                          <a:solidFill>
                            <a:srgbClr val="1E3B33"/>
                          </a:solidFill>
                          <a:latin typeface="Liter"/>
                          <a:ea typeface="Liter"/>
                        </a:rPr>
                        <a:t>CAPA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E8651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50" noProof="1" b="1" spc="150" kern="0">
                          <a:solidFill>
                            <a:srgbClr val="1E3B33"/>
                          </a:solidFill>
                          <a:latin typeface="Liter"/>
                          <a:ea typeface="Liter"/>
                        </a:rPr>
                        <a:t>TECNOLOGÍA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E8651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50" noProof="1" b="1" spc="150" kern="0">
                          <a:solidFill>
                            <a:srgbClr val="1E3B33"/>
                          </a:solidFill>
                          <a:latin typeface="Liter"/>
                          <a:ea typeface="Liter"/>
                        </a:rPr>
                        <a:t>POR QUÉ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E8651C"/>
                      </a:solidFill>
                    </a:lnB>
                    <a:noFill/>
                  </a:tcPr>
                </a:tc>
              </a:tr>
              <a:tr h="51526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1E3B33"/>
                          </a:solidFill>
                          <a:latin typeface="Liter"/>
                          <a:ea typeface="Liter"/>
                        </a:rPr>
                        <a:t>Lenguaje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JavaScript + TypeScript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Un lenguaje en todo el stack; el tipado estático detecta errores antes de llegar a producción.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</a:tr>
              <a:tr h="51526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1E3B33"/>
                          </a:solidFill>
                          <a:latin typeface="Liter"/>
                          <a:ea typeface="Liter"/>
                        </a:rPr>
                        <a:t>Frontend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Next.js (React)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Convenciones claras (rutas y componentes), renderizado híbrido y gran ecosistema.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</a:tr>
              <a:tr h="51526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1E3B33"/>
                          </a:solidFill>
                          <a:latin typeface="Liter"/>
                          <a:ea typeface="Liter"/>
                        </a:rPr>
                        <a:t>Backend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NestJS (Node.js)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Arquitectura modular obligatoria — módulos, controladores y servicios — con un patrón replicable.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</a:tr>
              <a:tr h="51526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1E3B33"/>
                          </a:solidFill>
                          <a:latin typeface="Liter"/>
                          <a:ea typeface="Liter"/>
                        </a:rPr>
                        <a:t>Base de datos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PostgreSQL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Licencia libre, transacciones ACID e integridad referencial — requisitos de la trazabilidad.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</a:tr>
              <a:tr h="51526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1E3B33"/>
                          </a:solidFill>
                          <a:latin typeface="Liter"/>
                          <a:ea typeface="Liter"/>
                        </a:rPr>
                        <a:t>Contenedores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Docker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Cada componente empaquetado: ambientes idénticos en desarrollo, pruebas y producción.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</a:tr>
              <a:tr h="51526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1E3B33"/>
                          </a:solidFill>
                          <a:latin typeface="Liter"/>
                          <a:ea typeface="Liter"/>
                        </a:rPr>
                        <a:t>Despliegue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Coolify (servidor propio)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Entrega continua desde GitHub, plataforma ya disponible en el servidor de la empresa.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</a:tr>
              <a:tr h="527533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1E3B33"/>
                          </a:solidFill>
                          <a:latin typeface="Liter"/>
                          <a:ea typeface="Liter"/>
                        </a:rPr>
                        <a:t>Versiones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Git / GitHub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Ramas main y test, con trazabilidad de tareas en Issues y Projects.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note-rule"/>
          <p:cNvSpPr/>
          <p:nvPr/>
        </p:nvSpPr>
        <p:spPr>
          <a:xfrm>
            <a:off x="812800" y="6121400"/>
            <a:ext cx="63500" cy="304800"/>
          </a:xfrm>
          <a:prstGeom prst="rect">
            <a:avLst/>
          </a:prstGeom>
          <a:solidFill>
            <a:srgbClr val="E8651C"/>
          </a:solidFill>
          <a:ln>
            <a:noFill/>
          </a:ln>
        </p:spPr>
      </p:sp>
      <p:sp>
        <p:nvSpPr>
          <p:cNvPr id="6" name="note"/>
          <p:cNvSpPr txBox="1"/>
          <p:nvPr/>
        </p:nvSpPr>
        <p:spPr>
          <a:xfrm>
            <a:off x="1117600" y="6121400"/>
            <a:ext cx="10261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E3B33"/>
                </a:solidFill>
                <a:latin typeface="Liter"/>
                <a:ea typeface="Liter"/>
              </a:rPr>
              <a:t>Todo el stack es software libre y el hosting es propio: $0 en licencias y hosting.</a:t>
            </a:r>
            <a:endParaRPr lang="en-US" sz="1350" noProof="1"/>
          </a:p>
        </p:txBody>
      </p:sp>
      <p:sp>
        <p:nvSpPr>
          <p:cNvPr id="7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A8479"/>
                </a:solidFill>
                <a:latin typeface="Liter"/>
                <a:ea typeface="Liter"/>
              </a:rPr>
              <a:t>08</a:t>
            </a:r>
            <a:endParaRPr lang="en-US" sz="11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8651C"/>
                </a:solidFill>
                <a:latin typeface="Liter"/>
                <a:ea typeface="Liter"/>
              </a:rPr>
              <a:t>02 · TÉCNICO — JUSTIFICACIÓN DE LA ELECCIÓN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1016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1E3B33"/>
                </a:solidFill>
                <a:latin typeface="Archivo Black"/>
                <a:ea typeface="Archivo Black"/>
              </a:rPr>
              <a:t>Elegimos este stack por riesgo y costo, no por preferencia</a:t>
            </a:r>
            <a:endParaRPr lang="en-US" sz="2600" noProof="1"/>
          </a:p>
        </p:txBody>
      </p:sp>
      <p:sp>
        <p:nvSpPr>
          <p:cNvPr id="4" name="vs"/>
          <p:cNvSpPr txBox="1"/>
          <p:nvPr/>
        </p:nvSpPr>
        <p:spPr>
          <a:xfrm>
            <a:off x="812800" y="1651000"/>
            <a:ext cx="10566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26332C"/>
                </a:solidFill>
                <a:latin typeface="Liter"/>
                <a:ea typeface="Liter"/>
              </a:rPr>
              <a:t>TypeScript + Next.js + NestJS</a:t>
            </a:r>
            <a:r>
              <a:rPr lang="en-US" sz="1400" noProof="1">
                <a:solidFill>
                  <a:srgbClr val="7A8479"/>
                </a:solidFill>
                <a:latin typeface="Liter"/>
                <a:ea typeface="Liter"/>
              </a:rPr>
              <a:t> — en vez de las alternativas evaluadas: Django (Python) o Laravel (PHP)</a:t>
            </a:r>
            <a:endParaRPr lang="en-US" sz="1400" noProof="1"/>
          </a:p>
        </p:txBody>
      </p:sp>
      <p:sp>
        <p:nvSpPr>
          <p:cNvPr id="5" name="c1-line"/>
          <p:cNvSpPr/>
          <p:nvPr/>
        </p:nvSpPr>
        <p:spPr>
          <a:xfrm>
            <a:off x="812800" y="21590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6" name="c1-num"/>
          <p:cNvSpPr txBox="1"/>
          <p:nvPr/>
        </p:nvSpPr>
        <p:spPr>
          <a:xfrm>
            <a:off x="812800" y="23114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>
                <a:solidFill>
                  <a:srgbClr val="E8651C"/>
                </a:solidFill>
                <a:latin typeface="Archivo Black"/>
                <a:ea typeface="Archivo Black"/>
              </a:rPr>
              <a:t>01</a:t>
            </a:r>
            <a:endParaRPr lang="en-US" sz="2200" noProof="1"/>
          </a:p>
        </p:txBody>
      </p:sp>
      <p:sp>
        <p:nvSpPr>
          <p:cNvPr id="7" name="c1"/>
          <p:cNvSpPr txBox="1"/>
          <p:nvPr/>
        </p:nvSpPr>
        <p:spPr>
          <a:xfrm>
            <a:off x="1524000" y="2108200"/>
            <a:ext cx="9855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26332C"/>
                </a:solidFill>
                <a:latin typeface="Liter"/>
                <a:ea typeface="Liter"/>
              </a:rPr>
              <a:t>Conocimientos previos del equipo</a:t>
            </a:r>
            <a:endParaRPr lang="en-US" sz="13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A8479"/>
                </a:solidFill>
                <a:latin typeface="Liter"/>
                <a:ea typeface="Liter"/>
              </a:rPr>
              <a:t>El equipo ya domina JavaScript: TypeScript es una capa de tipado sobre lo ya conocido, no un lenguaje nuevo — curva de aprendizaje acotada al semestre.</a:t>
            </a:r>
            <a:endParaRPr lang="en-US" sz="1300" noProof="1"/>
          </a:p>
        </p:txBody>
      </p:sp>
      <p:sp>
        <p:nvSpPr>
          <p:cNvPr id="8" name="c2-line"/>
          <p:cNvSpPr/>
          <p:nvPr/>
        </p:nvSpPr>
        <p:spPr>
          <a:xfrm>
            <a:off x="812800" y="29464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9" name="c2-num"/>
          <p:cNvSpPr txBox="1"/>
          <p:nvPr/>
        </p:nvSpPr>
        <p:spPr>
          <a:xfrm>
            <a:off x="812800" y="30988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>
                <a:solidFill>
                  <a:srgbClr val="E8651C"/>
                </a:solidFill>
                <a:latin typeface="Archivo Black"/>
                <a:ea typeface="Archivo Black"/>
              </a:rPr>
              <a:t>02</a:t>
            </a:r>
            <a:endParaRPr lang="en-US" sz="2200" noProof="1"/>
          </a:p>
        </p:txBody>
      </p:sp>
      <p:sp>
        <p:nvSpPr>
          <p:cNvPr id="10" name="c2"/>
          <p:cNvSpPr txBox="1"/>
          <p:nvPr/>
        </p:nvSpPr>
        <p:spPr>
          <a:xfrm>
            <a:off x="1524000" y="2895600"/>
            <a:ext cx="9855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26332C"/>
                </a:solidFill>
                <a:latin typeface="Liter"/>
                <a:ea typeface="Liter"/>
              </a:rPr>
              <a:t>Homogeneidad del stack</a:t>
            </a:r>
            <a:endParaRPr lang="en-US" sz="13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A8479"/>
                </a:solidFill>
                <a:latin typeface="Liter"/>
                <a:ea typeface="Liter"/>
              </a:rPr>
              <a:t>Un solo lenguaje en frontend y backend: los 3 integrantes comparten modelos, validaciones y criterios de revisión, sin cambio de contexto entre lenguajes.</a:t>
            </a:r>
            <a:endParaRPr lang="en-US" sz="1300" noProof="1"/>
          </a:p>
        </p:txBody>
      </p:sp>
      <p:sp>
        <p:nvSpPr>
          <p:cNvPr id="11" name="c3-line"/>
          <p:cNvSpPr/>
          <p:nvPr/>
        </p:nvSpPr>
        <p:spPr>
          <a:xfrm>
            <a:off x="812800" y="37338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2" name="c3-num"/>
          <p:cNvSpPr txBox="1"/>
          <p:nvPr/>
        </p:nvSpPr>
        <p:spPr>
          <a:xfrm>
            <a:off x="812800" y="38862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>
                <a:solidFill>
                  <a:srgbClr val="E8651C"/>
                </a:solidFill>
                <a:latin typeface="Archivo Black"/>
                <a:ea typeface="Archivo Black"/>
              </a:rPr>
              <a:t>03</a:t>
            </a:r>
            <a:endParaRPr lang="en-US" sz="2200" noProof="1"/>
          </a:p>
        </p:txBody>
      </p:sp>
      <p:sp>
        <p:nvSpPr>
          <p:cNvPr id="13" name="c3"/>
          <p:cNvSpPr txBox="1"/>
          <p:nvPr/>
        </p:nvSpPr>
        <p:spPr>
          <a:xfrm>
            <a:off x="1524000" y="3733800"/>
            <a:ext cx="9855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26332C"/>
                </a:solidFill>
                <a:latin typeface="Liter"/>
                <a:ea typeface="Liter"/>
              </a:rPr>
              <a:t>Patrón claro y replicable</a:t>
            </a:r>
            <a:endParaRPr lang="en-US" sz="13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A8479"/>
                </a:solidFill>
                <a:latin typeface="Liter"/>
                <a:ea typeface="Liter"/>
              </a:rPr>
              <a:t>Next.js organiza por rutas y NestJS por módulos: cada módulo de negocio (Propinas, Ventas, Inventario…) replica la misma estructura, lo que ordena el trabajo en paralelo y las pruebas.</a:t>
            </a:r>
            <a:endParaRPr lang="en-US" sz="1300" noProof="1"/>
          </a:p>
        </p:txBody>
      </p:sp>
      <p:sp>
        <p:nvSpPr>
          <p:cNvPr id="14" name="c4-line"/>
          <p:cNvSpPr/>
          <p:nvPr/>
        </p:nvSpPr>
        <p:spPr>
          <a:xfrm>
            <a:off x="812800" y="45212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5" name="c4-num"/>
          <p:cNvSpPr txBox="1"/>
          <p:nvPr/>
        </p:nvSpPr>
        <p:spPr>
          <a:xfrm>
            <a:off x="812800" y="4673600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>
                <a:solidFill>
                  <a:srgbClr val="E8651C"/>
                </a:solidFill>
                <a:latin typeface="Archivo Black"/>
                <a:ea typeface="Archivo Black"/>
              </a:rPr>
              <a:t>04</a:t>
            </a:r>
            <a:endParaRPr lang="en-US" sz="2200" noProof="1"/>
          </a:p>
        </p:txBody>
      </p:sp>
      <p:sp>
        <p:nvSpPr>
          <p:cNvPr id="16" name="c4"/>
          <p:cNvSpPr txBox="1"/>
          <p:nvPr/>
        </p:nvSpPr>
        <p:spPr>
          <a:xfrm>
            <a:off x="1524000" y="4622800"/>
            <a:ext cx="9855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26332C"/>
                </a:solidFill>
                <a:latin typeface="Liter"/>
                <a:ea typeface="Liter"/>
              </a:rPr>
              <a:t>Base de datos sin costo de licencia</a:t>
            </a:r>
            <a:endParaRPr lang="en-US" sz="13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A8479"/>
                </a:solidFill>
                <a:latin typeface="Liter"/>
                <a:ea typeface="Liter"/>
              </a:rPr>
              <a:t>PostgreSQL: motor relacional libre con transacciones ACID e integridad referencial, indispensables para la trazabilidad de documentos, propinas y cierres de caja.</a:t>
            </a:r>
            <a:endParaRPr lang="en-US" sz="1300" noProof="1"/>
          </a:p>
        </p:txBody>
      </p:sp>
      <p:sp>
        <p:nvSpPr>
          <p:cNvPr id="17" name="arch-line"/>
          <p:cNvSpPr/>
          <p:nvPr/>
        </p:nvSpPr>
        <p:spPr>
          <a:xfrm>
            <a:off x="812800" y="54356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18" name="arch-rule"/>
          <p:cNvSpPr/>
          <p:nvPr/>
        </p:nvSpPr>
        <p:spPr>
          <a:xfrm>
            <a:off x="812800" y="5689600"/>
            <a:ext cx="63500" cy="762000"/>
          </a:xfrm>
          <a:prstGeom prst="rect">
            <a:avLst/>
          </a:prstGeom>
          <a:solidFill>
            <a:srgbClr val="E8651C"/>
          </a:solidFill>
          <a:ln>
            <a:noFill/>
          </a:ln>
        </p:spPr>
      </p:sp>
      <p:sp>
        <p:nvSpPr>
          <p:cNvPr id="19" name="arch"/>
          <p:cNvSpPr txBox="1"/>
          <p:nvPr/>
        </p:nvSpPr>
        <p:spPr>
          <a:xfrm>
            <a:off x="1117600" y="5664200"/>
            <a:ext cx="102616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350" noProof="1" b="1">
                <a:solidFill>
                  <a:srgbClr val="26332C"/>
                </a:solidFill>
                <a:latin typeface="Liter"/>
                <a:ea typeface="Liter"/>
              </a:rPr>
              <a:t>Arquitectura: monolito modular.</a:t>
            </a:r>
            <a:r>
              <a:rPr lang="en-US" sz="1350" noProof="1">
                <a:solidFill>
                  <a:srgbClr val="26332C"/>
                </a:solidFill>
                <a:latin typeface="Liter"/>
                <a:ea typeface="Liter"/>
              </a:rPr>
              <a:t> </a:t>
            </a:r>
            <a:r>
              <a:rPr lang="en-US" sz="1350" noProof="1">
                <a:solidFill>
                  <a:srgbClr val="7A8479"/>
                </a:solidFill>
                <a:latin typeface="Liter"/>
                <a:ea typeface="Liter"/>
              </a:rPr>
              <a:t>Descartamos microservicios: con 3 integrantes y 10 semanas de desarrollo multiplican la complejidad de despliegue sin beneficio a esta escala. Si el sistema crece, cada módulo puede extraerse como servicio independiente.</a:t>
            </a:r>
            <a:endParaRPr lang="en-US" sz="1350" noProof="1"/>
          </a:p>
        </p:txBody>
      </p:sp>
      <p:sp>
        <p:nvSpPr>
          <p:cNvPr id="20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A8479"/>
                </a:solidFill>
                <a:latin typeface="Liter"/>
                <a:ea typeface="Liter"/>
              </a:rPr>
              <a:t>09</a:t>
            </a:r>
            <a:endParaRPr lang="en-US" sz="11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8651C"/>
                </a:solidFill>
                <a:latin typeface="Liter"/>
                <a:ea typeface="Liter"/>
              </a:rPr>
              <a:t>02 · TÉCNICO — ARQUITECTURA Y DESPLIEGUE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1016000"/>
            <a:ext cx="4318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400" noProof="1">
                <a:solidFill>
                  <a:srgbClr val="1E3B33"/>
                </a:solidFill>
                <a:latin typeface="Archivo Black"/>
                <a:ea typeface="Archivo Black"/>
              </a:rPr>
              <a:t>Dos ambientes en el servidor propio de la empresa</a:t>
            </a:r>
            <a:endParaRPr lang="en-US" sz="2400" noProof="1"/>
          </a:p>
        </p:txBody>
      </p:sp>
      <p:sp>
        <p:nvSpPr>
          <p:cNvPr id="4" name="p1-icon"/>
          <p:cNvSpPr/>
          <p:nvPr>
            <p:extLst>
              <p:ext uri="{F5677B7D-0D2A-4D9B-9A5C-6D8D7D0E5A5D}">
                <pptd:icon encoding="base64url">eyJpY29uTmFtZSI6ImZhczpzZXJ2ZXIifQ</pptd:icon>
              </p:ext>
            </p:extLst>
          </p:nvPr>
        </p:nvSpPr>
        <p:spPr>
          <a:xfrm>
            <a:off x="812800" y="2641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160"/>
                </a:lnTo>
                <a:cubicBezTo>
                  <a:pt x="0" y="195"/>
                  <a:pt x="29" y="224"/>
                  <a:pt x="64" y="224"/>
                </a:cubicBezTo>
                <a:lnTo>
                  <a:pt x="384" y="224"/>
                </a:lnTo>
                <a:cubicBezTo>
                  <a:pt x="419" y="224"/>
                  <a:pt x="448" y="195"/>
                  <a:pt x="448" y="160"/>
                </a:cubicBezTo>
                <a:lnTo>
                  <a:pt x="448" y="96"/>
                </a:lnTo>
                <a:cubicBezTo>
                  <a:pt x="448" y="61"/>
                  <a:pt x="419" y="32"/>
                  <a:pt x="384" y="32"/>
                </a:cubicBezTo>
                <a:lnTo>
                  <a:pt x="64" y="32"/>
                </a:lnTo>
                <a:close/>
                <a:moveTo>
                  <a:pt x="280" y="104"/>
                </a:moveTo>
                <a:cubicBezTo>
                  <a:pt x="293" y="104"/>
                  <a:pt x="304" y="115"/>
                  <a:pt x="304" y="128"/>
                </a:cubicBezTo>
                <a:cubicBezTo>
                  <a:pt x="304" y="141"/>
                  <a:pt x="293" y="152"/>
                  <a:pt x="280" y="152"/>
                </a:cubicBezTo>
                <a:cubicBezTo>
                  <a:pt x="267" y="152"/>
                  <a:pt x="256" y="141"/>
                  <a:pt x="256" y="128"/>
                </a:cubicBezTo>
                <a:cubicBezTo>
                  <a:pt x="256" y="115"/>
                  <a:pt x="267" y="104"/>
                  <a:pt x="280" y="104"/>
                </a:cubicBezTo>
                <a:close/>
                <a:moveTo>
                  <a:pt x="336" y="128"/>
                </a:moveTo>
                <a:cubicBezTo>
                  <a:pt x="336" y="115"/>
                  <a:pt x="347" y="104"/>
                  <a:pt x="360" y="104"/>
                </a:cubicBezTo>
                <a:cubicBezTo>
                  <a:pt x="373" y="104"/>
                  <a:pt x="384" y="115"/>
                  <a:pt x="384" y="128"/>
                </a:cubicBezTo>
                <a:cubicBezTo>
                  <a:pt x="384" y="141"/>
                  <a:pt x="373" y="152"/>
                  <a:pt x="360" y="152"/>
                </a:cubicBezTo>
                <a:cubicBezTo>
                  <a:pt x="347" y="152"/>
                  <a:pt x="336" y="141"/>
                  <a:pt x="336" y="128"/>
                </a:cubicBezTo>
                <a:close/>
              </a:path>
              <a:path w="448" h="512">
                <a:moveTo>
                  <a:pt x="64" y="288"/>
                </a:moveTo>
                <a:cubicBezTo>
                  <a:pt x="29" y="288"/>
                  <a:pt x="0" y="317"/>
                  <a:pt x="0" y="352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384" y="480"/>
                </a:lnTo>
                <a:cubicBezTo>
                  <a:pt x="419" y="480"/>
                  <a:pt x="448" y="451"/>
                  <a:pt x="448" y="416"/>
                </a:cubicBezTo>
                <a:lnTo>
                  <a:pt x="448" y="352"/>
                </a:lnTo>
                <a:cubicBezTo>
                  <a:pt x="448" y="317"/>
                  <a:pt x="419" y="288"/>
                  <a:pt x="384" y="288"/>
                </a:cubicBezTo>
                <a:lnTo>
                  <a:pt x="64" y="288"/>
                </a:lnTo>
                <a:close/>
                <a:moveTo>
                  <a:pt x="280" y="360"/>
                </a:moveTo>
                <a:cubicBezTo>
                  <a:pt x="293" y="360"/>
                  <a:pt x="304" y="371"/>
                  <a:pt x="304" y="384"/>
                </a:cubicBezTo>
                <a:cubicBezTo>
                  <a:pt x="304" y="397"/>
                  <a:pt x="293" y="408"/>
                  <a:pt x="280" y="408"/>
                </a:cubicBezTo>
                <a:cubicBezTo>
                  <a:pt x="267" y="408"/>
                  <a:pt x="256" y="397"/>
                  <a:pt x="256" y="384"/>
                </a:cubicBezTo>
                <a:cubicBezTo>
                  <a:pt x="256" y="371"/>
                  <a:pt x="267" y="360"/>
                  <a:pt x="280" y="360"/>
                </a:cubicBezTo>
                <a:close/>
                <a:moveTo>
                  <a:pt x="336" y="384"/>
                </a:moveTo>
                <a:cubicBezTo>
                  <a:pt x="336" y="371"/>
                  <a:pt x="347" y="360"/>
                  <a:pt x="360" y="360"/>
                </a:cubicBezTo>
                <a:cubicBezTo>
                  <a:pt x="373" y="360"/>
                  <a:pt x="384" y="371"/>
                  <a:pt x="384" y="384"/>
                </a:cubicBezTo>
                <a:cubicBezTo>
                  <a:pt x="384" y="397"/>
                  <a:pt x="373" y="408"/>
                  <a:pt x="360" y="408"/>
                </a:cubicBezTo>
                <a:cubicBezTo>
                  <a:pt x="347" y="408"/>
                  <a:pt x="336" y="397"/>
                  <a:pt x="336" y="384"/>
                </a:cubicBezTo>
                <a:close/>
              </a:path>
            </a:pathLst>
          </a:custGeom>
          <a:solidFill>
            <a:srgbClr val="E8651C"/>
          </a:solidFill>
          <a:ln>
            <a:noFill/>
          </a:ln>
        </p:spPr>
      </p:sp>
      <p:sp>
        <p:nvSpPr>
          <p:cNvPr id="5" name="p1"/>
          <p:cNvSpPr txBox="1"/>
          <p:nvPr/>
        </p:nvSpPr>
        <p:spPr>
          <a:xfrm>
            <a:off x="1219200" y="2565400"/>
            <a:ext cx="381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 b="1">
                <a:solidFill>
                  <a:srgbClr val="26332C"/>
                </a:solidFill>
                <a:latin typeface="Liter"/>
                <a:ea typeface="Liter"/>
              </a:rPr>
              <a:t>Servidor propio (Linux)</a:t>
            </a:r>
            <a:endParaRPr lang="en-US" sz="1250" noProof="1"/>
          </a:p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7A8479"/>
                </a:solidFill>
                <a:latin typeface="Liter"/>
                <a:ea typeface="Liter"/>
              </a:rPr>
              <a:t>Sin costos de hosting ni de licencias para el proyecto.</a:t>
            </a:r>
            <a:endParaRPr lang="en-US" sz="1250" noProof="1"/>
          </a:p>
        </p:txBody>
      </p:sp>
      <p:sp>
        <p:nvSpPr>
          <p:cNvPr id="6" name="p2-icon"/>
          <p:cNvSpPr/>
          <p:nvPr>
            <p:extLst>
              <p:ext uri="{F5677B7D-0D2A-4D9B-9A5C-6D8D7D0E5A5D}">
                <pptd:icon encoding="base64url">eyJpY29uTmFtZSI6ImZhczpjb2RlLWJyYW5jaCJ9</pptd:icon>
              </p:ext>
            </p:extLst>
          </p:nvPr>
        </p:nvSpPr>
        <p:spPr>
          <a:xfrm>
            <a:off x="812800" y="3581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60" y="80"/>
                </a:moveTo>
                <a:cubicBezTo>
                  <a:pt x="160" y="113"/>
                  <a:pt x="140" y="141"/>
                  <a:pt x="112" y="153"/>
                </a:cubicBezTo>
                <a:lnTo>
                  <a:pt x="112" y="224"/>
                </a:lnTo>
                <a:lnTo>
                  <a:pt x="288" y="224"/>
                </a:lnTo>
                <a:cubicBezTo>
                  <a:pt x="315" y="224"/>
                  <a:pt x="336" y="203"/>
                  <a:pt x="336" y="176"/>
                </a:cubicBezTo>
                <a:lnTo>
                  <a:pt x="336" y="153"/>
                </a:lnTo>
                <a:cubicBezTo>
                  <a:pt x="308" y="141"/>
                  <a:pt x="288" y="113"/>
                  <a:pt x="288" y="80"/>
                </a:cubicBezTo>
                <a:cubicBezTo>
                  <a:pt x="288" y="36"/>
                  <a:pt x="324" y="0"/>
                  <a:pt x="368" y="0"/>
                </a:cubicBezTo>
                <a:cubicBezTo>
                  <a:pt x="412" y="0"/>
                  <a:pt x="448" y="36"/>
                  <a:pt x="448" y="80"/>
                </a:cubicBezTo>
                <a:cubicBezTo>
                  <a:pt x="448" y="113"/>
                  <a:pt x="428" y="141"/>
                  <a:pt x="400" y="153"/>
                </a:cubicBezTo>
                <a:lnTo>
                  <a:pt x="400" y="176"/>
                </a:lnTo>
                <a:cubicBezTo>
                  <a:pt x="400" y="238"/>
                  <a:pt x="350" y="288"/>
                  <a:pt x="288" y="288"/>
                </a:cubicBezTo>
                <a:lnTo>
                  <a:pt x="112" y="288"/>
                </a:lnTo>
                <a:lnTo>
                  <a:pt x="112" y="359"/>
                </a:lnTo>
                <a:cubicBezTo>
                  <a:pt x="140" y="371"/>
                  <a:pt x="160" y="399"/>
                  <a:pt x="160" y="432"/>
                </a:cubicBezTo>
                <a:cubicBezTo>
                  <a:pt x="160" y="476"/>
                  <a:pt x="124" y="512"/>
                  <a:pt x="80" y="512"/>
                </a:cubicBezTo>
                <a:cubicBezTo>
                  <a:pt x="36" y="512"/>
                  <a:pt x="0" y="476"/>
                  <a:pt x="0" y="432"/>
                </a:cubicBezTo>
                <a:cubicBezTo>
                  <a:pt x="0" y="399"/>
                  <a:pt x="20" y="371"/>
                  <a:pt x="48" y="359"/>
                </a:cubicBezTo>
                <a:lnTo>
                  <a:pt x="48" y="153"/>
                </a:lnTo>
                <a:cubicBezTo>
                  <a:pt x="20" y="141"/>
                  <a:pt x="0" y="113"/>
                  <a:pt x="0" y="80"/>
                </a:cubicBezTo>
                <a:cubicBezTo>
                  <a:pt x="0" y="36"/>
                  <a:pt x="36" y="0"/>
                  <a:pt x="80" y="0"/>
                </a:cubicBezTo>
                <a:cubicBezTo>
                  <a:pt x="124" y="0"/>
                  <a:pt x="160" y="36"/>
                  <a:pt x="160" y="80"/>
                </a:cubicBezTo>
                <a:close/>
                <a:moveTo>
                  <a:pt x="80" y="104"/>
                </a:moveTo>
                <a:cubicBezTo>
                  <a:pt x="93" y="104"/>
                  <a:pt x="104" y="93"/>
                  <a:pt x="104" y="80"/>
                </a:cubicBezTo>
                <a:cubicBezTo>
                  <a:pt x="104" y="67"/>
                  <a:pt x="93" y="56"/>
                  <a:pt x="80" y="56"/>
                </a:cubicBezTo>
                <a:cubicBezTo>
                  <a:pt x="67" y="56"/>
                  <a:pt x="56" y="67"/>
                  <a:pt x="56" y="80"/>
                </a:cubicBezTo>
                <a:cubicBezTo>
                  <a:pt x="56" y="93"/>
                  <a:pt x="67" y="104"/>
                  <a:pt x="80" y="104"/>
                </a:cubicBezTo>
                <a:close/>
                <a:moveTo>
                  <a:pt x="392" y="80"/>
                </a:moveTo>
                <a:cubicBezTo>
                  <a:pt x="392" y="67"/>
                  <a:pt x="381" y="56"/>
                  <a:pt x="368" y="56"/>
                </a:cubicBezTo>
                <a:cubicBezTo>
                  <a:pt x="355" y="56"/>
                  <a:pt x="344" y="67"/>
                  <a:pt x="344" y="80"/>
                </a:cubicBezTo>
                <a:cubicBezTo>
                  <a:pt x="344" y="93"/>
                  <a:pt x="355" y="104"/>
                  <a:pt x="368" y="104"/>
                </a:cubicBezTo>
                <a:cubicBezTo>
                  <a:pt x="381" y="104"/>
                  <a:pt x="392" y="93"/>
                  <a:pt x="392" y="80"/>
                </a:cubicBezTo>
                <a:close/>
                <a:moveTo>
                  <a:pt x="80" y="456"/>
                </a:moveTo>
                <a:cubicBezTo>
                  <a:pt x="93" y="456"/>
                  <a:pt x="104" y="445"/>
                  <a:pt x="104" y="432"/>
                </a:cubicBezTo>
                <a:cubicBezTo>
                  <a:pt x="104" y="419"/>
                  <a:pt x="93" y="408"/>
                  <a:pt x="80" y="408"/>
                </a:cubicBezTo>
                <a:cubicBezTo>
                  <a:pt x="67" y="408"/>
                  <a:pt x="56" y="419"/>
                  <a:pt x="56" y="432"/>
                </a:cubicBezTo>
                <a:cubicBezTo>
                  <a:pt x="56" y="445"/>
                  <a:pt x="67" y="456"/>
                  <a:pt x="80" y="456"/>
                </a:cubicBezTo>
                <a:close/>
              </a:path>
            </a:pathLst>
          </a:custGeom>
          <a:solidFill>
            <a:srgbClr val="E8651C"/>
          </a:solidFill>
          <a:ln>
            <a:noFill/>
          </a:ln>
        </p:spPr>
      </p:sp>
      <p:sp>
        <p:nvSpPr>
          <p:cNvPr id="7" name="p2"/>
          <p:cNvSpPr txBox="1"/>
          <p:nvPr/>
        </p:nvSpPr>
        <p:spPr>
          <a:xfrm>
            <a:off x="1219200" y="3505200"/>
            <a:ext cx="38100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 b="1">
                <a:solidFill>
                  <a:srgbClr val="26332C"/>
                </a:solidFill>
                <a:latin typeface="Liter"/>
                <a:ea typeface="Liter"/>
              </a:rPr>
              <a:t>Rama test → dominio de pruebas</a:t>
            </a:r>
            <a:endParaRPr lang="en-US" sz="1250" noProof="1"/>
          </a:p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7A8479"/>
                </a:solidFill>
                <a:latin typeface="Liter"/>
                <a:ea typeface="Liter"/>
              </a:rPr>
              <a:t>El cliente valida cada incremento sin tocar datos reales; al aprobarse, la rama main pasa a producción.</a:t>
            </a:r>
            <a:endParaRPr lang="en-US" sz="1250" noProof="1"/>
          </a:p>
        </p:txBody>
      </p:sp>
      <p:sp>
        <p:nvSpPr>
          <p:cNvPr id="8" name="p3-icon"/>
          <p:cNvSpPr/>
          <p:nvPr>
            <p:extLst>
              <p:ext uri="{F5677B7D-0D2A-4D9B-9A5C-6D8D7D0E5A5D}">
                <pptd:icon encoding="base64url">eyJpY29uTmFtZSI6ImZhYjpkb2NrZXIifQ</pptd:icon>
              </p:ext>
            </p:extLst>
          </p:nvPr>
        </p:nvSpPr>
        <p:spPr>
          <a:xfrm>
            <a:off x="812800" y="4699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0" y="236"/>
                </a:moveTo>
                <a:lnTo>
                  <a:pt x="284" y="236"/>
                </a:lnTo>
                <a:lnTo>
                  <a:pt x="284" y="177"/>
                </a:lnTo>
                <a:lnTo>
                  <a:pt x="350" y="177"/>
                </a:lnTo>
                <a:lnTo>
                  <a:pt x="350" y="236"/>
                </a:lnTo>
                <a:close/>
              </a:path>
              <a:path w="640" h="512">
                <a:moveTo>
                  <a:pt x="350" y="32"/>
                </a:moveTo>
                <a:lnTo>
                  <a:pt x="284" y="32"/>
                </a:lnTo>
                <a:lnTo>
                  <a:pt x="284" y="93"/>
                </a:lnTo>
                <a:lnTo>
                  <a:pt x="350" y="93"/>
                </a:lnTo>
                <a:lnTo>
                  <a:pt x="350" y="32"/>
                </a:lnTo>
                <a:close/>
              </a:path>
              <a:path w="640" h="512">
                <a:moveTo>
                  <a:pt x="428" y="177"/>
                </a:moveTo>
                <a:lnTo>
                  <a:pt x="362" y="177"/>
                </a:lnTo>
                <a:lnTo>
                  <a:pt x="362" y="236"/>
                </a:lnTo>
                <a:lnTo>
                  <a:pt x="428" y="236"/>
                </a:lnTo>
                <a:lnTo>
                  <a:pt x="428" y="177"/>
                </a:lnTo>
                <a:close/>
              </a:path>
              <a:path w="640" h="512">
                <a:moveTo>
                  <a:pt x="272" y="105"/>
                </a:moveTo>
                <a:lnTo>
                  <a:pt x="206" y="105"/>
                </a:lnTo>
                <a:lnTo>
                  <a:pt x="206" y="165"/>
                </a:lnTo>
                <a:lnTo>
                  <a:pt x="272" y="165"/>
                </a:lnTo>
                <a:lnTo>
                  <a:pt x="272" y="105"/>
                </a:lnTo>
                <a:close/>
              </a:path>
              <a:path w="640" h="512">
                <a:moveTo>
                  <a:pt x="350" y="105"/>
                </a:moveTo>
                <a:lnTo>
                  <a:pt x="284" y="105"/>
                </a:lnTo>
                <a:lnTo>
                  <a:pt x="284" y="165"/>
                </a:lnTo>
                <a:lnTo>
                  <a:pt x="350" y="165"/>
                </a:lnTo>
                <a:lnTo>
                  <a:pt x="350" y="105"/>
                </a:lnTo>
                <a:close/>
              </a:path>
              <a:path w="640" h="512">
                <a:moveTo>
                  <a:pt x="627" y="205"/>
                </a:moveTo>
                <a:cubicBezTo>
                  <a:pt x="612" y="195"/>
                  <a:pt x="579" y="192"/>
                  <a:pt x="554" y="196"/>
                </a:cubicBezTo>
                <a:cubicBezTo>
                  <a:pt x="550" y="172"/>
                  <a:pt x="537" y="151"/>
                  <a:pt x="513" y="133"/>
                </a:cubicBezTo>
                <a:lnTo>
                  <a:pt x="499" y="123"/>
                </a:lnTo>
                <a:lnTo>
                  <a:pt x="489" y="137"/>
                </a:lnTo>
                <a:cubicBezTo>
                  <a:pt x="471" y="165"/>
                  <a:pt x="466" y="211"/>
                  <a:pt x="486" y="241"/>
                </a:cubicBezTo>
                <a:cubicBezTo>
                  <a:pt x="477" y="246"/>
                  <a:pt x="460" y="252"/>
                  <a:pt x="437" y="252"/>
                </a:cubicBezTo>
                <a:lnTo>
                  <a:pt x="2" y="252"/>
                </a:lnTo>
                <a:cubicBezTo>
                  <a:pt x="-6" y="303"/>
                  <a:pt x="8" y="369"/>
                  <a:pt x="46" y="414"/>
                </a:cubicBezTo>
                <a:cubicBezTo>
                  <a:pt x="84" y="458"/>
                  <a:pt x="139" y="480"/>
                  <a:pt x="212" y="480"/>
                </a:cubicBezTo>
                <a:cubicBezTo>
                  <a:pt x="369" y="480"/>
                  <a:pt x="486" y="408"/>
                  <a:pt x="540" y="276"/>
                </a:cubicBezTo>
                <a:cubicBezTo>
                  <a:pt x="562" y="276"/>
                  <a:pt x="608" y="276"/>
                  <a:pt x="632" y="231"/>
                </a:cubicBezTo>
                <a:cubicBezTo>
                  <a:pt x="633" y="228"/>
                  <a:pt x="638" y="218"/>
                  <a:pt x="640" y="214"/>
                </a:cubicBezTo>
                <a:lnTo>
                  <a:pt x="627" y="205"/>
                </a:lnTo>
                <a:close/>
              </a:path>
              <a:path w="640" h="512">
                <a:moveTo>
                  <a:pt x="116" y="177"/>
                </a:moveTo>
                <a:lnTo>
                  <a:pt x="50" y="177"/>
                </a:lnTo>
                <a:lnTo>
                  <a:pt x="50" y="236"/>
                </a:lnTo>
                <a:lnTo>
                  <a:pt x="116" y="236"/>
                </a:lnTo>
                <a:lnTo>
                  <a:pt x="116" y="177"/>
                </a:lnTo>
                <a:lnTo>
                  <a:pt x="116" y="177"/>
                </a:lnTo>
                <a:close/>
              </a:path>
              <a:path w="640" h="512">
                <a:moveTo>
                  <a:pt x="194" y="177"/>
                </a:moveTo>
                <a:lnTo>
                  <a:pt x="128" y="177"/>
                </a:lnTo>
                <a:lnTo>
                  <a:pt x="128" y="236"/>
                </a:lnTo>
                <a:lnTo>
                  <a:pt x="194" y="236"/>
                </a:lnTo>
                <a:lnTo>
                  <a:pt x="194" y="177"/>
                </a:lnTo>
                <a:close/>
              </a:path>
              <a:path w="640" h="512">
                <a:moveTo>
                  <a:pt x="272" y="177"/>
                </a:moveTo>
                <a:lnTo>
                  <a:pt x="206" y="177"/>
                </a:lnTo>
                <a:lnTo>
                  <a:pt x="206" y="236"/>
                </a:lnTo>
                <a:lnTo>
                  <a:pt x="272" y="236"/>
                </a:lnTo>
                <a:lnTo>
                  <a:pt x="272" y="177"/>
                </a:lnTo>
                <a:close/>
              </a:path>
              <a:path w="640" h="512">
                <a:moveTo>
                  <a:pt x="194" y="105"/>
                </a:moveTo>
                <a:lnTo>
                  <a:pt x="128" y="105"/>
                </a:lnTo>
                <a:lnTo>
                  <a:pt x="128" y="165"/>
                </a:lnTo>
                <a:lnTo>
                  <a:pt x="194" y="165"/>
                </a:lnTo>
                <a:lnTo>
                  <a:pt x="194" y="105"/>
                </a:lnTo>
                <a:close/>
              </a:path>
            </a:pathLst>
          </a:custGeom>
          <a:solidFill>
            <a:srgbClr val="E8651C"/>
          </a:solidFill>
          <a:ln>
            <a:noFill/>
          </a:ln>
        </p:spPr>
      </p:sp>
      <p:sp>
        <p:nvSpPr>
          <p:cNvPr id="9" name="p3"/>
          <p:cNvSpPr txBox="1"/>
          <p:nvPr/>
        </p:nvSpPr>
        <p:spPr>
          <a:xfrm>
            <a:off x="1219200" y="4622800"/>
            <a:ext cx="381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 b="1">
                <a:solidFill>
                  <a:srgbClr val="26332C"/>
                </a:solidFill>
                <a:latin typeface="Liter"/>
                <a:ea typeface="Liter"/>
              </a:rPr>
              <a:t>Docker + Coolify</a:t>
            </a:r>
            <a:endParaRPr lang="en-US" sz="1250" noProof="1"/>
          </a:p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7A8479"/>
                </a:solidFill>
                <a:latin typeface="Liter"/>
                <a:ea typeface="Liter"/>
              </a:rPr>
              <a:t>Cada integración gatilla construcción y despliegue automático de los contenedores.</a:t>
            </a:r>
            <a:endParaRPr lang="en-US" sz="1250" noProof="1"/>
          </a:p>
        </p:txBody>
      </p:sp>
      <p:sp>
        <p:nvSpPr>
          <p:cNvPr id="10" name="p4-icon"/>
          <p:cNvSpPr/>
          <p:nvPr>
            <p:extLst>
              <p:ext uri="{F5677B7D-0D2A-4D9B-9A5C-6D8D7D0E5A5D}">
                <pptd:icon encoding="base64url">eyJpY29uTmFtZSI6ImZhczpkYXRhYmFzZSJ9</pptd:icon>
              </p:ext>
            </p:extLst>
          </p:nvPr>
        </p:nvSpPr>
        <p:spPr>
          <a:xfrm>
            <a:off x="812800" y="5638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E8651C"/>
          </a:solidFill>
          <a:ln>
            <a:noFill/>
          </a:ln>
        </p:spPr>
      </p:sp>
      <p:sp>
        <p:nvSpPr>
          <p:cNvPr id="11" name="p4"/>
          <p:cNvSpPr txBox="1"/>
          <p:nvPr/>
        </p:nvSpPr>
        <p:spPr>
          <a:xfrm>
            <a:off x="1219200" y="5562600"/>
            <a:ext cx="381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 b="1">
                <a:solidFill>
                  <a:srgbClr val="26332C"/>
                </a:solidFill>
                <a:latin typeface="Liter"/>
                <a:ea typeface="Liter"/>
              </a:rPr>
              <a:t>PostgreSQL con volúmenes</a:t>
            </a:r>
            <a:endParaRPr lang="en-US" sz="1250" noProof="1"/>
          </a:p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7A8479"/>
                </a:solidFill>
                <a:latin typeface="Liter"/>
                <a:ea typeface="Liter"/>
              </a:rPr>
              <a:t>Datos y archivos con respaldo, para la conservación de 5 años que exige la normativa.</a:t>
            </a:r>
            <a:endParaRPr lang="en-US" sz="1250" noProof="1"/>
          </a:p>
        </p:txBody>
      </p:sp>
      <p:pic>
        <p:nvPicPr>
          <p:cNvPr id="12" name="deploy-img"/>
          <p:cNvPicPr/>
          <p:nvPr/>
        </p:nvPicPr>
        <p:blipFill>
          <a:blip r:embed="rId2"/>
          <a:srcRect t="-4" b="-4"/>
          <a:stretch>
            <a:fillRect/>
          </a:stretch>
        </p:blipFill>
        <p:spPr>
          <a:xfrm>
            <a:off x="5334000" y="1143000"/>
            <a:ext cx="6045200" cy="3797300"/>
          </a:xfrm>
          <a:prstGeom prst="rect">
            <a:avLst/>
          </a:prstGeom>
          <a:ln>
            <a:noFill/>
          </a:ln>
          <a:effectLst>
            <a:outerShdw blurRad="152400" dist="63500" dir="5400000" sx="100000" sy="100000" kx="0" ky="0" algn="bl" rotWithShape="0">
              <a:srgbClr val="1E3B33">
                <a:alpha val="12549"/>
              </a:srgbClr>
            </a:outerShdw>
          </a:effectLst>
        </p:spPr>
      </p:pic>
      <p:sp>
        <p:nvSpPr>
          <p:cNvPr id="13" name="deploy-img-border"/>
          <p:cNvSpPr/>
          <p:nvPr/>
        </p:nvSpPr>
        <p:spPr>
          <a:xfrm>
            <a:off x="5334000" y="1143000"/>
            <a:ext cx="6045200" cy="3797300"/>
          </a:xfrm>
          <a:prstGeom prst="rect">
            <a:avLst/>
          </a:prstGeom>
          <a:noFill/>
          <a:ln w="12700">
            <a:solidFill>
              <a:srgbClr val="D9D2C0"/>
            </a:solidFill>
          </a:ln>
        </p:spPr>
      </p:sp>
      <p:sp>
        <p:nvSpPr>
          <p:cNvPr id="14" name="deploy-caption"/>
          <p:cNvSpPr txBox="1"/>
          <p:nvPr/>
        </p:nvSpPr>
        <p:spPr>
          <a:xfrm>
            <a:off x="5334000" y="5080000"/>
            <a:ext cx="6045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 i="1">
                <a:solidFill>
                  <a:srgbClr val="7A8479"/>
                </a:solidFill>
                <a:latin typeface="Liter"/>
                <a:ea typeface="Liter"/>
              </a:rPr>
              <a:t>Diagrama de despliegue (Fase 1): producción —rama main— y pruebas —rama test— sobre el mismo servidor, orquestados por Coolify.</a:t>
            </a:r>
            <a:endParaRPr lang="en-US" sz="1100" noProof="1"/>
          </a:p>
        </p:txBody>
      </p:sp>
      <p:sp>
        <p:nvSpPr>
          <p:cNvPr id="15" name="costo"/>
          <p:cNvSpPr txBox="1"/>
          <p:nvPr/>
        </p:nvSpPr>
        <p:spPr>
          <a:xfrm>
            <a:off x="5334000" y="5740400"/>
            <a:ext cx="6045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50" noProof="1" b="1">
                <a:solidFill>
                  <a:srgbClr val="1E3B33"/>
                </a:solidFill>
                <a:latin typeface="Liter"/>
                <a:ea typeface="Liter"/>
              </a:rPr>
              <a:t>Costo de infraestructura para el proyecto: </a:t>
            </a:r>
            <a:r>
              <a:rPr lang="en-US" sz="1350" noProof="1" b="1">
                <a:solidFill>
                  <a:srgbClr val="E8651C"/>
                </a:solidFill>
                <a:latin typeface="Liter"/>
                <a:ea typeface="Liter"/>
              </a:rPr>
              <a:t>$0</a:t>
            </a:r>
            <a:r>
              <a:rPr lang="en-US" sz="1350" noProof="1" b="1">
                <a:solidFill>
                  <a:srgbClr val="1E3B33"/>
                </a:solidFill>
                <a:latin typeface="Liter"/>
                <a:ea typeface="Liter"/>
              </a:rPr>
              <a:t> — todo ya existe en la empresa.</a:t>
            </a:r>
            <a:endParaRPr lang="en-US" sz="1350" noProof="1"/>
          </a:p>
        </p:txBody>
      </p:sp>
      <p:sp>
        <p:nvSpPr>
          <p:cNvPr id="16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A8479"/>
                </a:solidFill>
                <a:latin typeface="Liter"/>
                <a:ea typeface="Liter"/>
              </a:rPr>
              <a:t>10</a:t>
            </a:r>
            <a:endParaRPr lang="en-US" sz="11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E3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10668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9B44C"/>
                </a:solidFill>
                <a:latin typeface="Liter"/>
                <a:ea typeface="Liter"/>
              </a:rPr>
              <a:t>SECCIÓN 03</a:t>
            </a:r>
            <a:endParaRPr lang="en-US" sz="1200" noProof="1"/>
          </a:p>
        </p:txBody>
      </p:sp>
      <p:sp>
        <p:nvSpPr>
          <p:cNvPr id="3" name="bignum"/>
          <p:cNvSpPr txBox="1"/>
          <p:nvPr/>
        </p:nvSpPr>
        <p:spPr>
          <a:xfrm>
            <a:off x="711200" y="1473200"/>
            <a:ext cx="5334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0" noProof="1">
                <a:solidFill>
                  <a:srgbClr val="E8651C"/>
                </a:solidFill>
                <a:latin typeface="Archivo Black"/>
                <a:ea typeface="Archivo Black"/>
              </a:rPr>
              <a:t>03</a:t>
            </a:r>
            <a:endParaRPr lang="en-US" sz="170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4343400"/>
            <a:ext cx="8890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600" noProof="1">
                <a:solidFill>
                  <a:srgbClr val="FFFDF8"/>
                </a:solidFill>
                <a:latin typeface="Archivo Black"/>
                <a:ea typeface="Archivo Black"/>
              </a:rPr>
              <a:t>Tiempo</a:t>
            </a:r>
            <a:endParaRPr lang="en-US" sz="4600" noProof="1"/>
          </a:p>
        </p:txBody>
      </p:sp>
      <p:sp>
        <p:nvSpPr>
          <p:cNvPr id="5" name="sub"/>
          <p:cNvSpPr txBox="1"/>
          <p:nvPr/>
        </p:nvSpPr>
        <p:spPr>
          <a:xfrm>
            <a:off x="812800" y="5257800"/>
            <a:ext cx="838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50" noProof="1">
                <a:solidFill>
                  <a:srgbClr val="A8B3A6"/>
                </a:solidFill>
                <a:latin typeface="Liter"/>
                <a:ea typeface="Liter"/>
              </a:rPr>
              <a:t>15 semanas, 5 sprints y compromisos medibles de cumplimiento.</a:t>
            </a:r>
            <a:endParaRPr lang="en-US" sz="1550" noProof="1"/>
          </a:p>
        </p:txBody>
      </p:sp>
      <p:sp>
        <p:nvSpPr>
          <p:cNvPr id="6" name="goldline"/>
          <p:cNvSpPr/>
          <p:nvPr/>
        </p:nvSpPr>
        <p:spPr>
          <a:xfrm>
            <a:off x="812800" y="5867400"/>
            <a:ext cx="1524000" cy="38100"/>
          </a:xfrm>
          <a:prstGeom prst="rect">
            <a:avLst/>
          </a:prstGeom>
          <a:solidFill>
            <a:srgbClr val="E9B44C"/>
          </a:solidFill>
          <a:ln>
            <a:noFill/>
          </a:ln>
        </p:spPr>
      </p:sp>
      <p:sp>
        <p:nvSpPr>
          <p:cNvPr id="7" name="pagenum"/>
          <p:cNvSpPr txBox="1"/>
          <p:nvPr/>
        </p:nvSpPr>
        <p:spPr>
          <a:xfrm>
            <a:off x="11176000" y="64262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A8B3A6"/>
                </a:solidFill>
                <a:latin typeface="Liter"/>
                <a:ea typeface="Liter"/>
              </a:rPr>
              <a:t>11</a:t>
            </a:r>
            <a:endParaRPr lang="en-US" sz="11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8651C"/>
                </a:solidFill>
                <a:latin typeface="Liter"/>
                <a:ea typeface="Liter"/>
              </a:rPr>
              <a:t>03 · TIEMPO — PLAN DE TRABAJO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1016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1E3B33"/>
                </a:solidFill>
                <a:latin typeface="Archivo Black"/>
                <a:ea typeface="Archivo Black"/>
              </a:rPr>
              <a:t>5 sprints de 2 semanas, ordenados por riesgo legal</a:t>
            </a:r>
            <a:endParaRPr lang="en-US" sz="2600" noProof="1"/>
          </a:p>
        </p:txBody>
      </p:sp>
      <p:sp>
        <p:nvSpPr>
          <p:cNvPr id="4" name="sub"/>
          <p:cNvSpPr txBox="1"/>
          <p:nvPr/>
        </p:nvSpPr>
        <p:spPr>
          <a:xfrm>
            <a:off x="812800" y="16002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7A8479"/>
                </a:solidFill>
                <a:latin typeface="Liter"/>
                <a:ea typeface="Liter"/>
              </a:rPr>
              <a:t>Dedicación de 13 h semanales por integrante · equipo de 3 · Scrum, con validación del cliente en cada Sprint Review</a:t>
            </a:r>
            <a:endParaRPr lang="en-US" sz="1200" noProof="1"/>
          </a:p>
        </p:txBody>
      </p:sp>
      <p:sp>
        <p:nvSpPr>
          <p:cNvPr id="5" name="seg1-label"/>
          <p:cNvSpPr txBox="1"/>
          <p:nvPr/>
        </p:nvSpPr>
        <p:spPr>
          <a:xfrm>
            <a:off x="812800" y="22352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7A8479"/>
                </a:solidFill>
                <a:latin typeface="Liter"/>
                <a:ea typeface="Liter"/>
              </a:rPr>
              <a:t>S1 – S4</a:t>
            </a:r>
            <a:endParaRPr lang="en-US" sz="1250" noProof="1"/>
          </a:p>
        </p:txBody>
      </p:sp>
      <p:sp>
        <p:nvSpPr>
          <p:cNvPr id="6" name="seg2-label"/>
          <p:cNvSpPr txBox="1"/>
          <p:nvPr/>
        </p:nvSpPr>
        <p:spPr>
          <a:xfrm>
            <a:off x="2565400" y="22352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E3B33"/>
                </a:solidFill>
                <a:latin typeface="Liter"/>
                <a:ea typeface="Liter"/>
              </a:rPr>
              <a:t>S5 – S8</a:t>
            </a:r>
            <a:endParaRPr lang="en-US" sz="1250" noProof="1"/>
          </a:p>
        </p:txBody>
      </p:sp>
      <p:sp>
        <p:nvSpPr>
          <p:cNvPr id="7" name="seg3-label"/>
          <p:cNvSpPr txBox="1"/>
          <p:nvPr/>
        </p:nvSpPr>
        <p:spPr>
          <a:xfrm>
            <a:off x="4330700" y="22352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E3B33"/>
                </a:solidFill>
                <a:latin typeface="Liter"/>
                <a:ea typeface="Liter"/>
              </a:rPr>
              <a:t>S9 – S10</a:t>
            </a:r>
            <a:endParaRPr lang="en-US" sz="1250" noProof="1"/>
          </a:p>
        </p:txBody>
      </p:sp>
      <p:sp>
        <p:nvSpPr>
          <p:cNvPr id="8" name="seg4-label"/>
          <p:cNvSpPr txBox="1"/>
          <p:nvPr/>
        </p:nvSpPr>
        <p:spPr>
          <a:xfrm>
            <a:off x="6096000" y="22352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E3B33"/>
                </a:solidFill>
                <a:latin typeface="Liter"/>
                <a:ea typeface="Liter"/>
              </a:rPr>
              <a:t>S11 – S12</a:t>
            </a:r>
            <a:endParaRPr lang="en-US" sz="1250" noProof="1"/>
          </a:p>
        </p:txBody>
      </p:sp>
      <p:sp>
        <p:nvSpPr>
          <p:cNvPr id="9" name="seg5-label"/>
          <p:cNvSpPr txBox="1"/>
          <p:nvPr/>
        </p:nvSpPr>
        <p:spPr>
          <a:xfrm>
            <a:off x="7861300" y="22352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E3B33"/>
                </a:solidFill>
                <a:latin typeface="Liter"/>
                <a:ea typeface="Liter"/>
              </a:rPr>
              <a:t>S13 – S14</a:t>
            </a:r>
            <a:endParaRPr lang="en-US" sz="1250" noProof="1"/>
          </a:p>
        </p:txBody>
      </p:sp>
      <p:sp>
        <p:nvSpPr>
          <p:cNvPr id="10" name="seg6-label"/>
          <p:cNvSpPr txBox="1"/>
          <p:nvPr/>
        </p:nvSpPr>
        <p:spPr>
          <a:xfrm>
            <a:off x="9626600" y="22352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E8651C"/>
                </a:solidFill>
                <a:latin typeface="Liter"/>
                <a:ea typeface="Liter"/>
              </a:rPr>
              <a:t>S15</a:t>
            </a:r>
            <a:endParaRPr lang="en-US" sz="1250" noProof="1"/>
          </a:p>
        </p:txBody>
      </p:sp>
      <p:sp>
        <p:nvSpPr>
          <p:cNvPr id="11" name="seg1-bar"/>
          <p:cNvSpPr/>
          <p:nvPr/>
        </p:nvSpPr>
        <p:spPr>
          <a:xfrm>
            <a:off x="812800" y="2565400"/>
            <a:ext cx="1651000" cy="88900"/>
          </a:xfrm>
          <a:prstGeom prst="rect">
            <a:avLst/>
          </a:prstGeom>
          <a:solidFill>
            <a:srgbClr val="E9B44C"/>
          </a:solidFill>
          <a:ln>
            <a:noFill/>
          </a:ln>
        </p:spPr>
      </p:sp>
      <p:sp>
        <p:nvSpPr>
          <p:cNvPr id="12" name="seg2-bar"/>
          <p:cNvSpPr/>
          <p:nvPr/>
        </p:nvSpPr>
        <p:spPr>
          <a:xfrm>
            <a:off x="2565400" y="2565400"/>
            <a:ext cx="1651000" cy="88900"/>
          </a:xfrm>
          <a:prstGeom prst="rect">
            <a:avLst/>
          </a:prstGeom>
          <a:solidFill>
            <a:srgbClr val="1E3B33"/>
          </a:solidFill>
          <a:ln>
            <a:noFill/>
          </a:ln>
        </p:spPr>
      </p:sp>
      <p:sp>
        <p:nvSpPr>
          <p:cNvPr id="13" name="seg3-bar"/>
          <p:cNvSpPr/>
          <p:nvPr/>
        </p:nvSpPr>
        <p:spPr>
          <a:xfrm>
            <a:off x="4330700" y="2565400"/>
            <a:ext cx="1651000" cy="88900"/>
          </a:xfrm>
          <a:prstGeom prst="rect">
            <a:avLst/>
          </a:prstGeom>
          <a:solidFill>
            <a:srgbClr val="1E3B33"/>
          </a:solidFill>
          <a:ln>
            <a:noFill/>
          </a:ln>
        </p:spPr>
      </p:sp>
      <p:sp>
        <p:nvSpPr>
          <p:cNvPr id="14" name="seg4-bar"/>
          <p:cNvSpPr/>
          <p:nvPr/>
        </p:nvSpPr>
        <p:spPr>
          <a:xfrm>
            <a:off x="6096000" y="2565400"/>
            <a:ext cx="1651000" cy="88900"/>
          </a:xfrm>
          <a:prstGeom prst="rect">
            <a:avLst/>
          </a:prstGeom>
          <a:solidFill>
            <a:srgbClr val="1E3B33"/>
          </a:solidFill>
          <a:ln>
            <a:noFill/>
          </a:ln>
        </p:spPr>
      </p:sp>
      <p:sp>
        <p:nvSpPr>
          <p:cNvPr id="15" name="seg5-bar"/>
          <p:cNvSpPr/>
          <p:nvPr/>
        </p:nvSpPr>
        <p:spPr>
          <a:xfrm>
            <a:off x="7861300" y="2565400"/>
            <a:ext cx="1651000" cy="88900"/>
          </a:xfrm>
          <a:prstGeom prst="rect">
            <a:avLst/>
          </a:prstGeom>
          <a:solidFill>
            <a:srgbClr val="1E3B33"/>
          </a:solidFill>
          <a:ln>
            <a:noFill/>
          </a:ln>
        </p:spPr>
      </p:sp>
      <p:sp>
        <p:nvSpPr>
          <p:cNvPr id="16" name="seg6-bar"/>
          <p:cNvSpPr/>
          <p:nvPr/>
        </p:nvSpPr>
        <p:spPr>
          <a:xfrm>
            <a:off x="9626600" y="2565400"/>
            <a:ext cx="1752600" cy="88900"/>
          </a:xfrm>
          <a:prstGeom prst="rect">
            <a:avLst/>
          </a:prstGeom>
          <a:solidFill>
            <a:srgbClr val="E8651C"/>
          </a:solidFill>
          <a:ln>
            <a:noFill/>
          </a:ln>
        </p:spPr>
      </p:sp>
      <p:sp>
        <p:nvSpPr>
          <p:cNvPr id="17" name="seg1-title"/>
          <p:cNvSpPr txBox="1"/>
          <p:nvPr/>
        </p:nvSpPr>
        <p:spPr>
          <a:xfrm>
            <a:off x="812800" y="2844800"/>
            <a:ext cx="165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300" noProof="1" b="1">
                <a:solidFill>
                  <a:srgbClr val="1E3B33"/>
                </a:solidFill>
                <a:latin typeface="Liter"/>
                <a:ea typeface="Liter"/>
              </a:rPr>
              <a:t>Definición y validación</a:t>
            </a:r>
            <a:endParaRPr lang="en-US" sz="1300" noProof="1"/>
          </a:p>
        </p:txBody>
      </p:sp>
      <p:sp>
        <p:nvSpPr>
          <p:cNvPr id="18" name="seg1-desc"/>
          <p:cNvSpPr txBox="1"/>
          <p:nvPr/>
        </p:nvSpPr>
        <p:spPr>
          <a:xfrm>
            <a:off x="812800" y="3378200"/>
            <a:ext cx="1651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A8479"/>
                </a:solidFill>
                <a:latin typeface="Liter"/>
                <a:ea typeface="Liter"/>
              </a:rPr>
              <a:t>Requisitos y alcance validados por el cliente.</a:t>
            </a:r>
            <a:endParaRPr lang="en-US" sz="1100" noProof="1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100" noProof="1" b="1">
                <a:solidFill>
                  <a:srgbClr val="E8651C"/>
                </a:solidFill>
                <a:latin typeface="Liter"/>
                <a:ea typeface="Liter"/>
              </a:rPr>
              <a:t>✓ Fase 1 cumplida</a:t>
            </a:r>
            <a:endParaRPr lang="en-US" sz="1100" noProof="1"/>
          </a:p>
        </p:txBody>
      </p:sp>
      <p:sp>
        <p:nvSpPr>
          <p:cNvPr id="19" name="seg2-title"/>
          <p:cNvSpPr txBox="1"/>
          <p:nvPr/>
        </p:nvSpPr>
        <p:spPr>
          <a:xfrm>
            <a:off x="2565400" y="2844800"/>
            <a:ext cx="165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300" noProof="1" b="1">
                <a:solidFill>
                  <a:srgbClr val="1E3B33"/>
                </a:solidFill>
                <a:latin typeface="Liter"/>
                <a:ea typeface="Liter"/>
              </a:rPr>
              <a:t>Sprints 1–2 · Núcleo + Gestor Documental</a:t>
            </a:r>
            <a:endParaRPr lang="en-US" sz="1300" noProof="1"/>
          </a:p>
        </p:txBody>
      </p:sp>
      <p:sp>
        <p:nvSpPr>
          <p:cNvPr id="20" name="seg2-desc"/>
          <p:cNvSpPr txBox="1"/>
          <p:nvPr/>
        </p:nvSpPr>
        <p:spPr>
          <a:xfrm>
            <a:off x="2565400" y="3378200"/>
            <a:ext cx="1651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A8479"/>
                </a:solidFill>
                <a:latin typeface="Liter"/>
                <a:ea typeface="Liter"/>
              </a:rPr>
              <a:t>Usuarios, roles, auditoría y documentos con hash de integridad.</a:t>
            </a:r>
            <a:endParaRPr lang="en-US" sz="1100" noProof="1"/>
          </a:p>
        </p:txBody>
      </p:sp>
      <p:sp>
        <p:nvSpPr>
          <p:cNvPr id="21" name="seg3-title"/>
          <p:cNvSpPr txBox="1"/>
          <p:nvPr/>
        </p:nvSpPr>
        <p:spPr>
          <a:xfrm>
            <a:off x="4330700" y="2844800"/>
            <a:ext cx="165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300" noProof="1" b="1">
                <a:solidFill>
                  <a:srgbClr val="1E3B33"/>
                </a:solidFill>
                <a:latin typeface="Liter"/>
                <a:ea typeface="Liter"/>
              </a:rPr>
              <a:t>Sprint 3 · Propinas</a:t>
            </a:r>
            <a:endParaRPr lang="en-US" sz="1300" noProof="1"/>
          </a:p>
        </p:txBody>
      </p:sp>
      <p:sp>
        <p:nvSpPr>
          <p:cNvPr id="22" name="seg3-desc"/>
          <p:cNvSpPr txBox="1"/>
          <p:nvPr/>
        </p:nvSpPr>
        <p:spPr>
          <a:xfrm>
            <a:off x="4330700" y="3378200"/>
            <a:ext cx="1651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A8479"/>
                </a:solidFill>
                <a:latin typeface="Liter"/>
                <a:ea typeface="Liter"/>
              </a:rPr>
              <a:t>Reparto por horas trabajadas, validado por el contador.</a:t>
            </a:r>
            <a:endParaRPr lang="en-US" sz="1100" noProof="1"/>
          </a:p>
        </p:txBody>
      </p:sp>
      <p:sp>
        <p:nvSpPr>
          <p:cNvPr id="23" name="seg4-title"/>
          <p:cNvSpPr txBox="1"/>
          <p:nvPr/>
        </p:nvSpPr>
        <p:spPr>
          <a:xfrm>
            <a:off x="6096000" y="2844800"/>
            <a:ext cx="165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300" noProof="1" b="1">
                <a:solidFill>
                  <a:srgbClr val="1E3B33"/>
                </a:solidFill>
                <a:latin typeface="Liter"/>
                <a:ea typeface="Liter"/>
              </a:rPr>
              <a:t>Sprint 4 · Ventas y Caja</a:t>
            </a:r>
            <a:endParaRPr lang="en-US" sz="1300" noProof="1"/>
          </a:p>
        </p:txBody>
      </p:sp>
      <p:sp>
        <p:nvSpPr>
          <p:cNvPr id="24" name="seg4-desc"/>
          <p:cNvSpPr txBox="1"/>
          <p:nvPr/>
        </p:nvSpPr>
        <p:spPr>
          <a:xfrm>
            <a:off x="6096000" y="3378200"/>
            <a:ext cx="1651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A8479"/>
                </a:solidFill>
                <a:latin typeface="Liter"/>
                <a:ea typeface="Liter"/>
              </a:rPr>
              <a:t>Cierre diario con responsable y diferencia calculada.</a:t>
            </a:r>
            <a:endParaRPr lang="en-US" sz="1100" noProof="1"/>
          </a:p>
        </p:txBody>
      </p:sp>
      <p:sp>
        <p:nvSpPr>
          <p:cNvPr id="25" name="seg5-title"/>
          <p:cNvSpPr txBox="1"/>
          <p:nvPr/>
        </p:nvSpPr>
        <p:spPr>
          <a:xfrm>
            <a:off x="7861300" y="2844800"/>
            <a:ext cx="165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300" noProof="1" b="1">
                <a:solidFill>
                  <a:srgbClr val="1E3B33"/>
                </a:solidFill>
                <a:latin typeface="Liter"/>
                <a:ea typeface="Liter"/>
              </a:rPr>
              <a:t>Sprint 5 · Inventario + Portal</a:t>
            </a:r>
            <a:endParaRPr lang="en-US" sz="1300" noProof="1"/>
          </a:p>
        </p:txBody>
      </p:sp>
      <p:sp>
        <p:nvSpPr>
          <p:cNvPr id="26" name="seg5-desc"/>
          <p:cNvSpPr txBox="1"/>
          <p:nvPr/>
        </p:nvSpPr>
        <p:spPr>
          <a:xfrm>
            <a:off x="7861300" y="3378200"/>
            <a:ext cx="1651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A8479"/>
                </a:solidFill>
                <a:latin typeface="Liter"/>
                <a:ea typeface="Liter"/>
              </a:rPr>
              <a:t>Stock vs. consumo real y autoservicio del trabajador.</a:t>
            </a:r>
            <a:endParaRPr lang="en-US" sz="1100" noProof="1"/>
          </a:p>
        </p:txBody>
      </p:sp>
      <p:sp>
        <p:nvSpPr>
          <p:cNvPr id="27" name="seg6-title"/>
          <p:cNvSpPr txBox="1"/>
          <p:nvPr/>
        </p:nvSpPr>
        <p:spPr>
          <a:xfrm>
            <a:off x="9626600" y="2844800"/>
            <a:ext cx="1752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300" noProof="1" b="1">
                <a:solidFill>
                  <a:srgbClr val="1E3B33"/>
                </a:solidFill>
                <a:latin typeface="Liter"/>
                <a:ea typeface="Liter"/>
              </a:rPr>
              <a:t>Pruebas y cierre</a:t>
            </a:r>
            <a:endParaRPr lang="en-US" sz="1300" noProof="1"/>
          </a:p>
        </p:txBody>
      </p:sp>
      <p:sp>
        <p:nvSpPr>
          <p:cNvPr id="28" name="seg6-desc"/>
          <p:cNvSpPr txBox="1"/>
          <p:nvPr/>
        </p:nvSpPr>
        <p:spPr>
          <a:xfrm>
            <a:off x="9626600" y="3378200"/>
            <a:ext cx="17526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7A8479"/>
                </a:solidFill>
                <a:latin typeface="Liter"/>
                <a:ea typeface="Liter"/>
              </a:rPr>
              <a:t>Pruebas con usuarios reales y puesta en producción.</a:t>
            </a:r>
            <a:endParaRPr lang="en-US" sz="1100" noProof="1"/>
          </a:p>
        </p:txBody>
      </p:sp>
      <p:sp>
        <p:nvSpPr>
          <p:cNvPr id="29" name="hitos-line"/>
          <p:cNvSpPr/>
          <p:nvPr/>
        </p:nvSpPr>
        <p:spPr>
          <a:xfrm>
            <a:off x="812800" y="5029200"/>
            <a:ext cx="10566400" cy="12700"/>
          </a:xfrm>
          <a:prstGeom prst="rect">
            <a:avLst/>
          </a:prstGeom>
          <a:solidFill>
            <a:srgbClr val="D9D2C0"/>
          </a:solidFill>
          <a:ln>
            <a:noFill/>
          </a:ln>
        </p:spPr>
      </p:sp>
      <p:sp>
        <p:nvSpPr>
          <p:cNvPr id="30" name="hitos-title"/>
          <p:cNvSpPr txBox="1"/>
          <p:nvPr/>
        </p:nvSpPr>
        <p:spPr>
          <a:xfrm>
            <a:off x="812800" y="52324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E8651C"/>
                </a:solidFill>
                <a:latin typeface="Liter"/>
                <a:ea typeface="Liter"/>
              </a:rPr>
              <a:t>HITOS DE CONTROL</a:t>
            </a:r>
            <a:endParaRPr lang="en-US" sz="1100" noProof="1"/>
          </a:p>
        </p:txBody>
      </p:sp>
      <p:sp>
        <p:nvSpPr>
          <p:cNvPr id="31" name="hitos"/>
          <p:cNvSpPr txBox="1"/>
          <p:nvPr/>
        </p:nvSpPr>
        <p:spPr>
          <a:xfrm>
            <a:off x="812800" y="55626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E8651C"/>
                </a:solidFill>
                <a:latin typeface="Liter"/>
                <a:ea typeface="Liter"/>
              </a:rPr>
              <a:t>◆</a:t>
            </a:r>
            <a:r>
              <a:rPr lang="en-US" sz="1250" noProof="1">
                <a:solidFill>
                  <a:srgbClr val="7A8479"/>
                </a:solidFill>
                <a:latin typeface="Liter"/>
                <a:ea typeface="Liter"/>
              </a:rPr>
              <a:t> </a:t>
            </a:r>
            <a:r>
              <a:rPr lang="en-US" sz="1250" noProof="1" b="1">
                <a:solidFill>
                  <a:srgbClr val="26332C"/>
                </a:solidFill>
                <a:latin typeface="Liter"/>
                <a:ea typeface="Liter"/>
              </a:rPr>
              <a:t>S4</a:t>
            </a:r>
            <a:r>
              <a:rPr lang="en-US" sz="1250" noProof="1">
                <a:solidFill>
                  <a:srgbClr val="7A8479"/>
                </a:solidFill>
                <a:latin typeface="Liter"/>
                <a:ea typeface="Liter"/>
              </a:rPr>
              <a:t> Entrega Fase 1   </a:t>
            </a:r>
            <a:r>
              <a:rPr lang="en-US" sz="1250" noProof="1">
                <a:solidFill>
                  <a:srgbClr val="E8651C"/>
                </a:solidFill>
                <a:latin typeface="Liter"/>
                <a:ea typeface="Liter"/>
              </a:rPr>
              <a:t>◆</a:t>
            </a:r>
            <a:r>
              <a:rPr lang="en-US" sz="1250" noProof="1">
                <a:solidFill>
                  <a:srgbClr val="7A8479"/>
                </a:solidFill>
                <a:latin typeface="Liter"/>
                <a:ea typeface="Liter"/>
              </a:rPr>
              <a:t> </a:t>
            </a:r>
            <a:r>
              <a:rPr lang="en-US" sz="1250" noProof="1" b="1">
                <a:solidFill>
                  <a:srgbClr val="26332C"/>
                </a:solidFill>
                <a:latin typeface="Liter"/>
                <a:ea typeface="Liter"/>
              </a:rPr>
              <a:t>S8</a:t>
            </a:r>
            <a:r>
              <a:rPr lang="en-US" sz="1250" noProof="1">
                <a:solidFill>
                  <a:srgbClr val="7A8479"/>
                </a:solidFill>
                <a:latin typeface="Liter"/>
                <a:ea typeface="Liter"/>
              </a:rPr>
              <a:t> Prototipo Núcleo + Gestor Documental   </a:t>
            </a:r>
            <a:r>
              <a:rPr lang="en-US" sz="1250" noProof="1">
                <a:solidFill>
                  <a:srgbClr val="E8651C"/>
                </a:solidFill>
                <a:latin typeface="Liter"/>
                <a:ea typeface="Liter"/>
              </a:rPr>
              <a:t>◆</a:t>
            </a:r>
            <a:r>
              <a:rPr lang="en-US" sz="1250" noProof="1">
                <a:solidFill>
                  <a:srgbClr val="7A8479"/>
                </a:solidFill>
                <a:latin typeface="Liter"/>
                <a:ea typeface="Liter"/>
              </a:rPr>
              <a:t> </a:t>
            </a:r>
            <a:r>
              <a:rPr lang="en-US" sz="1250" noProof="1" b="1">
                <a:solidFill>
                  <a:srgbClr val="26332C"/>
                </a:solidFill>
                <a:latin typeface="Liter"/>
                <a:ea typeface="Liter"/>
              </a:rPr>
              <a:t>S10</a:t>
            </a:r>
            <a:r>
              <a:rPr lang="en-US" sz="1250" noProof="1">
                <a:solidFill>
                  <a:srgbClr val="7A8479"/>
                </a:solidFill>
                <a:latin typeface="Liter"/>
                <a:ea typeface="Liter"/>
              </a:rPr>
              <a:t> Propinas   </a:t>
            </a:r>
            <a:r>
              <a:rPr lang="en-US" sz="1250" noProof="1">
                <a:solidFill>
                  <a:srgbClr val="E8651C"/>
                </a:solidFill>
                <a:latin typeface="Liter"/>
                <a:ea typeface="Liter"/>
              </a:rPr>
              <a:t>◆</a:t>
            </a:r>
            <a:r>
              <a:rPr lang="en-US" sz="1250" noProof="1">
                <a:solidFill>
                  <a:srgbClr val="7A8479"/>
                </a:solidFill>
                <a:latin typeface="Liter"/>
                <a:ea typeface="Liter"/>
              </a:rPr>
              <a:t> </a:t>
            </a:r>
            <a:r>
              <a:rPr lang="en-US" sz="1250" noProof="1" b="1">
                <a:solidFill>
                  <a:srgbClr val="26332C"/>
                </a:solidFill>
                <a:latin typeface="Liter"/>
                <a:ea typeface="Liter"/>
              </a:rPr>
              <a:t>S12</a:t>
            </a:r>
            <a:r>
              <a:rPr lang="en-US" sz="1250" noProof="1">
                <a:solidFill>
                  <a:srgbClr val="7A8479"/>
                </a:solidFill>
                <a:latin typeface="Liter"/>
                <a:ea typeface="Liter"/>
              </a:rPr>
              <a:t> Ventas y Caja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E8651C"/>
                </a:solidFill>
                <a:latin typeface="Liter"/>
                <a:ea typeface="Liter"/>
              </a:rPr>
              <a:t>◆</a:t>
            </a:r>
            <a:r>
              <a:rPr lang="en-US" sz="1250" noProof="1">
                <a:solidFill>
                  <a:srgbClr val="7A8479"/>
                </a:solidFill>
                <a:latin typeface="Liter"/>
                <a:ea typeface="Liter"/>
              </a:rPr>
              <a:t> </a:t>
            </a:r>
            <a:r>
              <a:rPr lang="en-US" sz="1250" noProof="1" b="1">
                <a:solidFill>
                  <a:srgbClr val="26332C"/>
                </a:solidFill>
                <a:latin typeface="Liter"/>
                <a:ea typeface="Liter"/>
              </a:rPr>
              <a:t>S14</a:t>
            </a:r>
            <a:r>
              <a:rPr lang="en-US" sz="1250" noProof="1">
                <a:solidFill>
                  <a:srgbClr val="7A8479"/>
                </a:solidFill>
                <a:latin typeface="Liter"/>
                <a:ea typeface="Liter"/>
              </a:rPr>
              <a:t> Inventario y Portal del Trabajador   </a:t>
            </a:r>
            <a:r>
              <a:rPr lang="en-US" sz="1250" noProof="1">
                <a:solidFill>
                  <a:srgbClr val="E8651C"/>
                </a:solidFill>
                <a:latin typeface="Liter"/>
                <a:ea typeface="Liter"/>
              </a:rPr>
              <a:t>◆</a:t>
            </a:r>
            <a:r>
              <a:rPr lang="en-US" sz="1250" noProof="1">
                <a:solidFill>
                  <a:srgbClr val="7A8479"/>
                </a:solidFill>
                <a:latin typeface="Liter"/>
                <a:ea typeface="Liter"/>
              </a:rPr>
              <a:t> </a:t>
            </a:r>
            <a:r>
              <a:rPr lang="en-US" sz="1250" noProof="1" b="1">
                <a:solidFill>
                  <a:srgbClr val="26332C"/>
                </a:solidFill>
                <a:latin typeface="Liter"/>
                <a:ea typeface="Liter"/>
              </a:rPr>
              <a:t>S15</a:t>
            </a:r>
            <a:r>
              <a:rPr lang="en-US" sz="1250" noProof="1">
                <a:solidFill>
                  <a:srgbClr val="7A8479"/>
                </a:solidFill>
                <a:latin typeface="Liter"/>
                <a:ea typeface="Liter"/>
              </a:rPr>
              <a:t> Sistema en producción y cierre del proyecto</a:t>
            </a:r>
            <a:endParaRPr lang="en-US" sz="1250" noProof="1"/>
          </a:p>
        </p:txBody>
      </p:sp>
      <p:sp>
        <p:nvSpPr>
          <p:cNvPr id="32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A8479"/>
                </a:solidFill>
                <a:latin typeface="Liter"/>
                <a:ea typeface="Liter"/>
              </a:rPr>
              <a:t>12</a:t>
            </a:r>
            <a:endParaRPr lang="en-US" sz="11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6604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8651C"/>
                </a:solidFill>
                <a:latin typeface="Liter"/>
                <a:ea typeface="Liter"/>
              </a:rPr>
              <a:t>03 · TIEMPO — LO QUE NOS COMPROMETEMOS A CUMPLIR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10160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>
                <a:solidFill>
                  <a:srgbClr val="1E3B33"/>
                </a:solidFill>
                <a:latin typeface="Archivo Black"/>
                <a:ea typeface="Archivo Black"/>
              </a:rPr>
              <a:t>Cada entrega tiene un indicador verificable</a:t>
            </a:r>
            <a:endParaRPr lang="en-US" sz="2600" noProof="1"/>
          </a:p>
        </p:txBody>
      </p:sp>
      <p:graphicFrame>
        <p:nvGraphicFramePr>
          <p:cNvPr id="4" name="commit-table"/>
          <p:cNvGraphicFramePr>
            <a:graphicFrameLocks noGrp="1"/>
          </p:cNvGraphicFramePr>
          <p:nvPr/>
        </p:nvGraphicFramePr>
        <p:xfrm>
          <a:off x="812800" y="1778000"/>
          <a:ext cx="10566400" cy="3835400"/>
        </p:xfrm>
        <a:graphic>
          <a:graphicData uri="http://schemas.openxmlformats.org/drawingml/2006/table">
            <a:tbl>
              <a:tblPr/>
              <a:tblGrid>
                <a:gridCol w="1267968"/>
                <a:gridCol w="4226560"/>
                <a:gridCol w="5071872"/>
              </a:tblGrid>
              <a:tr h="498602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50" noProof="1" b="1" spc="150" kern="0">
                          <a:solidFill>
                            <a:srgbClr val="1E3B33"/>
                          </a:solidFill>
                          <a:latin typeface="Liter"/>
                          <a:ea typeface="Liter"/>
                        </a:rPr>
                        <a:t>SEMANA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E8651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50" noProof="1" b="1" spc="150" kern="0">
                          <a:solidFill>
                            <a:srgbClr val="1E3B33"/>
                          </a:solidFill>
                          <a:latin typeface="Liter"/>
                          <a:ea typeface="Liter"/>
                        </a:rPr>
                        <a:t>ENTREGABLE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E8651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50" noProof="1" b="1" spc="150" kern="0">
                          <a:solidFill>
                            <a:srgbClr val="1E3B33"/>
                          </a:solidFill>
                          <a:latin typeface="Liter"/>
                          <a:ea typeface="Liter"/>
                        </a:rPr>
                        <a:t>INDICADOR DE CUMPLIMIENTO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E8651C"/>
                      </a:solidFill>
                    </a:lnB>
                    <a:noFill/>
                  </a:tcPr>
                </a:tc>
              </a:tr>
              <a:tr h="556133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E8651C"/>
                          </a:solidFill>
                          <a:latin typeface="Liter"/>
                          <a:ea typeface="Liter"/>
                        </a:rPr>
                        <a:t>S4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Requisitos funcionales y legales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Documento validado por el cliente — Fase 1 cumplida 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</a:tr>
              <a:tr h="556133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E8651C"/>
                          </a:solidFill>
                          <a:latin typeface="Liter"/>
                          <a:ea typeface="Liter"/>
                        </a:rPr>
                        <a:t>S5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Modelo de datos y arquitectura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Aprobados por el cliente antes de iniciar el desarrollo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</a:tr>
              <a:tr h="556133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E8651C"/>
                          </a:solidFill>
                          <a:latin typeface="Liter"/>
                          <a:ea typeface="Liter"/>
                        </a:rPr>
                        <a:t>S8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Núcleo + Gestor Documental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100% de los documentos de prueba con integridad verificada (hash)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</a:tr>
              <a:tr h="556133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E8651C"/>
                          </a:solidFill>
                          <a:latin typeface="Liter"/>
                          <a:ea typeface="Liter"/>
                        </a:rPr>
                        <a:t>S10–S12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Propinas · Ventas y Caja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Cálculo validado por el contador; 100% de cierres con responsable y diferencia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</a:tr>
              <a:tr h="556133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E8651C"/>
                          </a:solidFill>
                          <a:latin typeface="Liter"/>
                          <a:ea typeface="Liter"/>
                        </a:rPr>
                        <a:t>S14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Inventario + Portal del Trabajador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Aislamiento de datos verificado — cada trabajador ve solo lo suyo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</a:tr>
              <a:tr h="556133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 b="1">
                          <a:solidFill>
                            <a:srgbClr val="E8651C"/>
                          </a:solidFill>
                          <a:latin typeface="Liter"/>
                          <a:ea typeface="Liter"/>
                        </a:rPr>
                        <a:t>S15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Sistema completo en producción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50" noProof="1">
                          <a:solidFill>
                            <a:srgbClr val="26332C"/>
                          </a:solidFill>
                          <a:latin typeface="Liter"/>
                          <a:ea typeface="Liter"/>
                        </a:rPr>
                        <a:t>≥ 90% de casos de prueba aprobados, validado con usuarios reales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note-rule"/>
          <p:cNvSpPr/>
          <p:nvPr/>
        </p:nvSpPr>
        <p:spPr>
          <a:xfrm>
            <a:off x="812800" y="5943600"/>
            <a:ext cx="63500" cy="508000"/>
          </a:xfrm>
          <a:prstGeom prst="rect">
            <a:avLst/>
          </a:prstGeom>
          <a:solidFill>
            <a:srgbClr val="E8651C"/>
          </a:solidFill>
          <a:ln>
            <a:noFill/>
          </a:ln>
        </p:spPr>
      </p:sp>
      <p:sp>
        <p:nvSpPr>
          <p:cNvPr id="6" name="note"/>
          <p:cNvSpPr txBox="1"/>
          <p:nvPr/>
        </p:nvSpPr>
        <p:spPr>
          <a:xfrm>
            <a:off x="1117600" y="5918200"/>
            <a:ext cx="10261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350" noProof="1" b="1">
                <a:solidFill>
                  <a:srgbClr val="1E3B33"/>
                </a:solidFill>
                <a:latin typeface="Liter"/>
                <a:ea typeface="Liter"/>
              </a:rPr>
              <a:t>Lo de mayor riesgo legal queda operativo en la semana S8: ante cualquier imprevisto, lo crítico se entrega primero.</a:t>
            </a:r>
            <a:endParaRPr lang="en-US" sz="1350" noProof="1"/>
          </a:p>
        </p:txBody>
      </p:sp>
      <p:sp>
        <p:nvSpPr>
          <p:cNvPr id="7" name="pagenum"/>
          <p:cNvSpPr txBox="1"/>
          <p:nvPr/>
        </p:nvSpPr>
        <p:spPr>
          <a:xfrm>
            <a:off x="11176000" y="6502400"/>
            <a:ext cx="40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1100" noProof="1">
                <a:solidFill>
                  <a:srgbClr val="7A8479"/>
                </a:solidFill>
                <a:latin typeface="Liter"/>
                <a:ea typeface="Liter"/>
              </a:rPr>
              <a:t>13</a:t>
            </a:r>
            <a:endParaRPr lang="en-US" sz="11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E3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762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300" kern="0">
                <a:solidFill>
                  <a:srgbClr val="E9B44C"/>
                </a:solidFill>
                <a:latin typeface="Liter"/>
                <a:ea typeface="Liter"/>
              </a:rPr>
              <a:t>PARA CERRAR</a:t>
            </a:r>
            <a:endParaRPr lang="en-US" sz="1200" noProof="1"/>
          </a:p>
        </p:txBody>
      </p:sp>
      <p:sp>
        <p:nvSpPr>
          <p:cNvPr id="3" name="claim"/>
          <p:cNvSpPr txBox="1"/>
          <p:nvPr/>
        </p:nvSpPr>
        <p:spPr>
          <a:xfrm>
            <a:off x="812800" y="1219200"/>
            <a:ext cx="105664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3200" noProof="1">
                <a:solidFill>
                  <a:srgbClr val="FFFDF8"/>
                </a:solidFill>
                <a:latin typeface="Archivo Black"/>
                <a:ea typeface="Archivo Black"/>
              </a:rPr>
              <a:t>Factible en </a:t>
            </a:r>
            <a:r>
              <a:rPr lang="en-US" sz="3200" noProof="1">
                <a:solidFill>
                  <a:srgbClr val="E9B44C"/>
                </a:solidFill>
                <a:latin typeface="Archivo Black"/>
                <a:ea typeface="Archivo Black"/>
              </a:rPr>
              <a:t>tiempo</a:t>
            </a:r>
            <a:r>
              <a:rPr lang="en-US" sz="3200" noProof="1">
                <a:solidFill>
                  <a:srgbClr val="FFFDF8"/>
                </a:solidFill>
                <a:latin typeface="Archivo Black"/>
                <a:ea typeface="Archivo Black"/>
              </a:rPr>
              <a:t>. Factible en </a:t>
            </a:r>
            <a:r>
              <a:rPr lang="en-US" sz="3200" noProof="1">
                <a:solidFill>
                  <a:srgbClr val="E9B44C"/>
                </a:solidFill>
                <a:latin typeface="Archivo Black"/>
                <a:ea typeface="Archivo Black"/>
              </a:rPr>
              <a:t>alcance</a:t>
            </a:r>
            <a:r>
              <a:rPr lang="en-US" sz="3200" noProof="1">
                <a:solidFill>
                  <a:srgbClr val="FFFDF8"/>
                </a:solidFill>
                <a:latin typeface="Archivo Black"/>
                <a:ea typeface="Archivo Black"/>
              </a:rPr>
              <a:t>.</a:t>
            </a:r>
            <a:endParaRPr lang="en-US" sz="3200" noProof="1"/>
          </a:p>
          <a:p>
            <a:pPr>
              <a:lnSpc>
                <a:spcPct val="120000"/>
              </a:lnSpc>
            </a:pPr>
            <a:r>
              <a:rPr lang="en-US" sz="3200" noProof="1">
                <a:solidFill>
                  <a:srgbClr val="FFFDF8"/>
                </a:solidFill>
                <a:latin typeface="Archivo Black"/>
                <a:ea typeface="Archivo Black"/>
              </a:rPr>
              <a:t>Factible en </a:t>
            </a:r>
            <a:r>
              <a:rPr lang="en-US" sz="3200" noProof="1">
                <a:solidFill>
                  <a:srgbClr val="E9B44C"/>
                </a:solidFill>
                <a:latin typeface="Archivo Black"/>
                <a:ea typeface="Archivo Black"/>
              </a:rPr>
              <a:t>costo</a:t>
            </a:r>
            <a:r>
              <a:rPr lang="en-US" sz="3200" noProof="1">
                <a:solidFill>
                  <a:srgbClr val="FFFDF8"/>
                </a:solidFill>
                <a:latin typeface="Archivo Black"/>
                <a:ea typeface="Archivo Black"/>
              </a:rPr>
              <a:t>.</a:t>
            </a:r>
            <a:endParaRPr lang="en-US" sz="3200" noProof="1"/>
          </a:p>
        </p:txBody>
      </p:sp>
      <p:sp>
        <p:nvSpPr>
          <p:cNvPr id="4" name="vline1"/>
          <p:cNvSpPr/>
          <p:nvPr/>
        </p:nvSpPr>
        <p:spPr>
          <a:xfrm>
            <a:off x="4330700" y="3048000"/>
            <a:ext cx="12700" cy="2032000"/>
          </a:xfrm>
          <a:prstGeom prst="rect">
            <a:avLst/>
          </a:prstGeom>
          <a:solidFill>
            <a:srgbClr val="3E574D"/>
          </a:solidFill>
          <a:ln>
            <a:noFill/>
          </a:ln>
        </p:spPr>
      </p:sp>
      <p:sp>
        <p:nvSpPr>
          <p:cNvPr id="5" name="vline2"/>
          <p:cNvSpPr/>
          <p:nvPr/>
        </p:nvSpPr>
        <p:spPr>
          <a:xfrm>
            <a:off x="7848600" y="3048000"/>
            <a:ext cx="12700" cy="2032000"/>
          </a:xfrm>
          <a:prstGeom prst="rect">
            <a:avLst/>
          </a:prstGeom>
          <a:solidFill>
            <a:srgbClr val="3E574D"/>
          </a:solidFill>
          <a:ln>
            <a:noFill/>
          </a:ln>
        </p:spPr>
      </p:sp>
      <p:sp>
        <p:nvSpPr>
          <p:cNvPr id="6" name="hline"/>
          <p:cNvSpPr/>
          <p:nvPr/>
        </p:nvSpPr>
        <p:spPr>
          <a:xfrm>
            <a:off x="812800" y="2819400"/>
            <a:ext cx="10566400" cy="12700"/>
          </a:xfrm>
          <a:prstGeom prst="rect">
            <a:avLst/>
          </a:prstGeom>
          <a:solidFill>
            <a:srgbClr val="3E574D"/>
          </a:solidFill>
          <a:ln>
            <a:noFill/>
          </a:ln>
        </p:spPr>
      </p:sp>
      <p:sp>
        <p:nvSpPr>
          <p:cNvPr id="7" name="t-label"/>
          <p:cNvSpPr txBox="1"/>
          <p:nvPr/>
        </p:nvSpPr>
        <p:spPr>
          <a:xfrm>
            <a:off x="812800" y="30480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 spc="250" kern="0">
                <a:solidFill>
                  <a:srgbClr val="E9B44C"/>
                </a:solidFill>
                <a:latin typeface="Liter"/>
                <a:ea typeface="Liter"/>
              </a:rPr>
              <a:t>TIEMPO</a:t>
            </a:r>
            <a:endParaRPr lang="en-US" sz="1150" noProof="1"/>
          </a:p>
        </p:txBody>
      </p:sp>
      <p:sp>
        <p:nvSpPr>
          <p:cNvPr id="8" name="t-big"/>
          <p:cNvSpPr txBox="1"/>
          <p:nvPr/>
        </p:nvSpPr>
        <p:spPr>
          <a:xfrm>
            <a:off x="812800" y="33274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>
                <a:solidFill>
                  <a:srgbClr val="FFFDF8"/>
                </a:solidFill>
                <a:latin typeface="Archivo Black"/>
                <a:ea typeface="Archivo Black"/>
              </a:rPr>
              <a:t>15 sem.</a:t>
            </a:r>
            <a:endParaRPr lang="en-US" sz="3400" noProof="1"/>
          </a:p>
        </p:txBody>
      </p:sp>
      <p:sp>
        <p:nvSpPr>
          <p:cNvPr id="9" name="t-desc"/>
          <p:cNvSpPr txBox="1"/>
          <p:nvPr/>
        </p:nvSpPr>
        <p:spPr>
          <a:xfrm>
            <a:off x="812800" y="3962400"/>
            <a:ext cx="3048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A8B3A6"/>
                </a:solidFill>
                <a:latin typeface="Liter"/>
                <a:ea typeface="Liter"/>
              </a:rPr>
              <a:t>≈ 430 horas-persona de desarrollo (13 h × 3 integrantes × 11 semanas). Lo de mayor riesgo legal queda operativo en S8.</a:t>
            </a:r>
            <a:endParaRPr lang="en-US" sz="1150" noProof="1"/>
          </a:p>
        </p:txBody>
      </p:sp>
      <p:sp>
        <p:nvSpPr>
          <p:cNvPr id="10" name="a-label"/>
          <p:cNvSpPr txBox="1"/>
          <p:nvPr/>
        </p:nvSpPr>
        <p:spPr>
          <a:xfrm>
            <a:off x="4572000" y="30480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 spc="250" kern="0">
                <a:solidFill>
                  <a:srgbClr val="E9B44C"/>
                </a:solidFill>
                <a:latin typeface="Liter"/>
                <a:ea typeface="Liter"/>
              </a:rPr>
              <a:t>ALCANCE</a:t>
            </a:r>
            <a:endParaRPr lang="en-US" sz="1150" noProof="1"/>
          </a:p>
        </p:txBody>
      </p:sp>
      <p:sp>
        <p:nvSpPr>
          <p:cNvPr id="11" name="a-big"/>
          <p:cNvSpPr txBox="1"/>
          <p:nvPr/>
        </p:nvSpPr>
        <p:spPr>
          <a:xfrm>
            <a:off x="4572000" y="33274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>
                <a:solidFill>
                  <a:srgbClr val="FFFDF8"/>
                </a:solidFill>
                <a:latin typeface="Archivo Black"/>
                <a:ea typeface="Archivo Black"/>
              </a:rPr>
              <a:t>6 módulos</a:t>
            </a:r>
            <a:endParaRPr lang="en-US" sz="3400" noProof="1"/>
          </a:p>
        </p:txBody>
      </p:sp>
      <p:sp>
        <p:nvSpPr>
          <p:cNvPr id="12" name="a-desc"/>
          <p:cNvSpPr txBox="1"/>
          <p:nvPr/>
        </p:nvSpPr>
        <p:spPr>
          <a:xfrm>
            <a:off x="4572000" y="3962400"/>
            <a:ext cx="3048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A8B3A6"/>
                </a:solidFill>
                <a:latin typeface="Liter"/>
                <a:ea typeface="Liter"/>
              </a:rPr>
              <a:t>Alcance delimitado y validado por escrito con el cliente al cierre de S4, priorizado por riesgo legal y dependencia entre módulos.</a:t>
            </a:r>
            <a:endParaRPr lang="en-US" sz="1150" noProof="1"/>
          </a:p>
        </p:txBody>
      </p:sp>
      <p:sp>
        <p:nvSpPr>
          <p:cNvPr id="13" name="c-label"/>
          <p:cNvSpPr txBox="1"/>
          <p:nvPr/>
        </p:nvSpPr>
        <p:spPr>
          <a:xfrm>
            <a:off x="8331200" y="30480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 spc="250" kern="0">
                <a:solidFill>
                  <a:srgbClr val="E9B44C"/>
                </a:solidFill>
                <a:latin typeface="Liter"/>
                <a:ea typeface="Liter"/>
              </a:rPr>
              <a:t>COSTO</a:t>
            </a:r>
            <a:endParaRPr lang="en-US" sz="1150" noProof="1"/>
          </a:p>
        </p:txBody>
      </p:sp>
      <p:sp>
        <p:nvSpPr>
          <p:cNvPr id="14" name="c-big"/>
          <p:cNvSpPr txBox="1"/>
          <p:nvPr/>
        </p:nvSpPr>
        <p:spPr>
          <a:xfrm>
            <a:off x="8331200" y="33274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400" noProof="1">
                <a:solidFill>
                  <a:srgbClr val="FFFDF8"/>
                </a:solidFill>
                <a:latin typeface="Archivo Black"/>
                <a:ea typeface="Archivo Black"/>
              </a:rPr>
              <a:t>$0</a:t>
            </a:r>
            <a:endParaRPr lang="en-US" sz="3400" noProof="1"/>
          </a:p>
        </p:txBody>
      </p:sp>
      <p:sp>
        <p:nvSpPr>
          <p:cNvPr id="15" name="c-desc"/>
          <p:cNvSpPr txBox="1"/>
          <p:nvPr/>
        </p:nvSpPr>
        <p:spPr>
          <a:xfrm>
            <a:off x="8331200" y="3962400"/>
            <a:ext cx="3048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A8B3A6"/>
                </a:solidFill>
                <a:latin typeface="Liter"/>
                <a:ea typeface="Liter"/>
              </a:rPr>
              <a:t>Sin licencias ni hosting: stack de software libre desplegado con Docker y Coolify en el servidor propio de la empresa.</a:t>
            </a:r>
            <a:endParaRPr lang="en-US" sz="1150" noProof="1"/>
          </a:p>
        </p:txBody>
      </p:sp>
      <p:sp>
        <p:nvSpPr>
          <p:cNvPr id="16" name="ask-line"/>
          <p:cNvSpPr/>
          <p:nvPr/>
        </p:nvSpPr>
        <p:spPr>
          <a:xfrm>
            <a:off x="812800" y="5435600"/>
            <a:ext cx="10566400" cy="12700"/>
          </a:xfrm>
          <a:prstGeom prst="rect">
            <a:avLst/>
          </a:prstGeom>
          <a:solidFill>
            <a:srgbClr val="3E574D"/>
          </a:solidFill>
          <a:ln>
            <a:noFill/>
          </a:ln>
        </p:spPr>
      </p:sp>
      <p:sp>
        <p:nvSpPr>
          <p:cNvPr id="17" name="ask-rule"/>
          <p:cNvSpPr/>
          <p:nvPr/>
        </p:nvSpPr>
        <p:spPr>
          <a:xfrm>
            <a:off x="812800" y="5689600"/>
            <a:ext cx="63500" cy="558800"/>
          </a:xfrm>
          <a:prstGeom prst="rect">
            <a:avLst/>
          </a:prstGeom>
          <a:solidFill>
            <a:srgbClr val="E8651C"/>
          </a:solidFill>
          <a:ln>
            <a:noFill/>
          </a:ln>
        </p:spPr>
      </p:sp>
      <p:sp>
        <p:nvSpPr>
          <p:cNvPr id="18" name="ask"/>
          <p:cNvSpPr txBox="1"/>
          <p:nvPr/>
        </p:nvSpPr>
        <p:spPr>
          <a:xfrm>
            <a:off x="1117600" y="5664200"/>
            <a:ext cx="10261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600" noProof="1" b="1">
                <a:solidFill>
                  <a:srgbClr val="FFFDF8"/>
                </a:solidFill>
                <a:latin typeface="Liter"/>
                <a:ea typeface="Liter"/>
              </a:rPr>
              <a:t>Solicitamos la aprobación para iniciar la Fase 2 — desarrollo, semanas S5 a S15.</a:t>
            </a:r>
            <a:endParaRPr lang="en-US" sz="1600" noProof="1"/>
          </a:p>
        </p:txBody>
      </p:sp>
      <p:sp>
        <p:nvSpPr>
          <p:cNvPr id="19" name="footer"/>
          <p:cNvSpPr txBox="1"/>
          <p:nvPr/>
        </p:nvSpPr>
        <p:spPr>
          <a:xfrm>
            <a:off x="812800" y="6477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A8B3A6"/>
                </a:solidFill>
                <a:latin typeface="Liter"/>
                <a:ea typeface="Liter"/>
              </a:rPr>
              <a:t>Lucas Flores · Nicolás Jiménez · Luis Hernández — Portafolio de Título, Ingeniería en Informática, Duoc UC</a:t>
            </a:r>
            <a:endParaRPr lang="en-US" sz="11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14</Slides>
</Properties>
</file>

<file path=docProps/core.xml><?xml version="1.0" encoding="utf-8"?>
<cp:coreProperties xmlns:dc="http://purl.org/dc/elements/1.1/" xmlns:cp="http://schemas.openxmlformats.org/package/2006/metadata/core-properties">
  <dc:title>MoiFood — Sistema de Gestión Interna — Presentación Ejecutiva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